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" dt="2026-10-09T23:37:10.669"/>
    <p1510:client id="{D446D3DB-956A-4AAB-AEED-F0079F9D52B9}" v="8" dt="2026-10-09T23:28:12.2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Angel Luna Ramirez" userId="S::miguellura@unisabana.edu.co::306656f1-d415-4464-b863-117f073f8a37" providerId="AD" clId="Web-{00000000-0000-0000-0000-000000000000}"/>
    <pc:docChg chg="modSld">
      <pc:chgData name="Miguel Angel Luna Ramirez" userId="S::miguellura@unisabana.edu.co::306656f1-d415-4464-b863-117f073f8a37" providerId="AD" clId="Web-{00000000-0000-0000-0000-000000000000}" dt="2026-10-09T23:37:10.669" v="0" actId="20577"/>
      <pc:docMkLst>
        <pc:docMk/>
      </pc:docMkLst>
      <pc:sldChg chg="modSp">
        <pc:chgData name="Miguel Angel Luna Ramirez" userId="S::miguellura@unisabana.edu.co::306656f1-d415-4464-b863-117f073f8a37" providerId="AD" clId="Web-{00000000-0000-0000-0000-000000000000}" dt="2026-10-09T23:37:10.669" v="0" actId="20577"/>
        <pc:sldMkLst>
          <pc:docMk/>
          <pc:sldMk cId="0" sldId="259"/>
        </pc:sldMkLst>
        <pc:spChg chg="mod">
          <ac:chgData name="Miguel Angel Luna Ramirez" userId="S::miguellura@unisabana.edu.co::306656f1-d415-4464-b863-117f073f8a37" providerId="AD" clId="Web-{00000000-0000-0000-0000-000000000000}" dt="2026-10-09T23:37:10.669" v="0" actId="20577"/>
          <ac:spMkLst>
            <pc:docMk/>
            <pc:sldMk cId="0" sldId="259"/>
            <ac:spMk id="7" creationId="{00000000-0000-0000-0000-000000000000}"/>
          </ac:spMkLst>
        </pc:spChg>
      </pc:sldChg>
    </pc:docChg>
  </pc:docChgLst>
  <pc:docChgLst>
    <pc:chgData name="Juan Esteban Carrillo Rosenstiehl" userId="361f7d6b-b438-4fda-9aa5-58356615fb58" providerId="ADAL" clId="{5191746E-03E8-499B-9791-868772827121}"/>
    <pc:docChg chg="undo custSel modSld sldOrd">
      <pc:chgData name="Juan Esteban Carrillo Rosenstiehl" userId="361f7d6b-b438-4fda-9aa5-58356615fb58" providerId="ADAL" clId="{5191746E-03E8-499B-9791-868772827121}" dt="2026-10-09T23:48:12.007" v="252" actId="478"/>
      <pc:docMkLst>
        <pc:docMk/>
      </pc:docMkLst>
      <pc:sldChg chg="addSp delSp modSp mod">
        <pc:chgData name="Juan Esteban Carrillo Rosenstiehl" userId="361f7d6b-b438-4fda-9aa5-58356615fb58" providerId="ADAL" clId="{5191746E-03E8-499B-9791-868772827121}" dt="2026-10-08T17:38:13.404" v="181" actId="1076"/>
        <pc:sldMkLst>
          <pc:docMk/>
          <pc:sldMk cId="0" sldId="256"/>
        </pc:sldMkLst>
        <pc:spChg chg="mod">
          <ac:chgData name="Juan Esteban Carrillo Rosenstiehl" userId="361f7d6b-b438-4fda-9aa5-58356615fb58" providerId="ADAL" clId="{5191746E-03E8-499B-9791-868772827121}" dt="2026-10-08T17:38:13.404" v="181" actId="1076"/>
          <ac:spMkLst>
            <pc:docMk/>
            <pc:sldMk cId="0" sldId="256"/>
            <ac:spMk id="3" creationId="{00000000-0000-0000-0000-000000000000}"/>
          </ac:spMkLst>
        </pc:spChg>
        <pc:spChg chg="del">
          <ac:chgData name="Juan Esteban Carrillo Rosenstiehl" userId="361f7d6b-b438-4fda-9aa5-58356615fb58" providerId="ADAL" clId="{5191746E-03E8-499B-9791-868772827121}" dt="2026-10-08T17:38:08.577" v="180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Juan Esteban Carrillo Rosenstiehl" userId="361f7d6b-b438-4fda-9aa5-58356615fb58" providerId="ADAL" clId="{5191746E-03E8-499B-9791-868772827121}" dt="2026-10-08T17:35:27.966" v="120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Juan Esteban Carrillo Rosenstiehl" userId="361f7d6b-b438-4fda-9aa5-58356615fb58" providerId="ADAL" clId="{5191746E-03E8-499B-9791-868772827121}" dt="2026-10-08T17:35:40.688" v="127" actId="1076"/>
          <ac:spMkLst>
            <pc:docMk/>
            <pc:sldMk cId="0" sldId="256"/>
            <ac:spMk id="6" creationId="{00000000-0000-0000-0000-000000000000}"/>
          </ac:spMkLst>
        </pc:spChg>
        <pc:spChg chg="del">
          <ac:chgData name="Juan Esteban Carrillo Rosenstiehl" userId="361f7d6b-b438-4fda-9aa5-58356615fb58" providerId="ADAL" clId="{5191746E-03E8-499B-9791-868772827121}" dt="2026-10-08T17:35:37.711" v="126" actId="478"/>
          <ac:spMkLst>
            <pc:docMk/>
            <pc:sldMk cId="0" sldId="256"/>
            <ac:spMk id="7" creationId="{00000000-0000-0000-0000-000000000000}"/>
          </ac:spMkLst>
        </pc:spChg>
        <pc:spChg chg="add del mod">
          <ac:chgData name="Juan Esteban Carrillo Rosenstiehl" userId="361f7d6b-b438-4fda-9aa5-58356615fb58" providerId="ADAL" clId="{5191746E-03E8-499B-9791-868772827121}" dt="2026-10-08T17:35:35.263" v="125"/>
          <ac:spMkLst>
            <pc:docMk/>
            <pc:sldMk cId="0" sldId="256"/>
            <ac:spMk id="8" creationId="{93FF4F4F-4A20-5878-02ED-4F1A97F8820D}"/>
          </ac:spMkLst>
        </pc:spChg>
      </pc:sldChg>
      <pc:sldChg chg="modSp mod">
        <pc:chgData name="Juan Esteban Carrillo Rosenstiehl" userId="361f7d6b-b438-4fda-9aa5-58356615fb58" providerId="ADAL" clId="{5191746E-03E8-499B-9791-868772827121}" dt="2026-10-09T00:42:26.171" v="232" actId="6549"/>
        <pc:sldMkLst>
          <pc:docMk/>
          <pc:sldMk cId="0" sldId="257"/>
        </pc:sldMkLst>
        <pc:spChg chg="mod">
          <ac:chgData name="Juan Esteban Carrillo Rosenstiehl" userId="361f7d6b-b438-4fda-9aa5-58356615fb58" providerId="ADAL" clId="{5191746E-03E8-499B-9791-868772827121}" dt="2026-10-09T00:41:40.109" v="198" actId="207"/>
          <ac:spMkLst>
            <pc:docMk/>
            <pc:sldMk cId="0" sldId="257"/>
            <ac:spMk id="7" creationId="{00000000-0000-0000-0000-000000000000}"/>
          </ac:spMkLst>
        </pc:spChg>
        <pc:spChg chg="mod">
          <ac:chgData name="Juan Esteban Carrillo Rosenstiehl" userId="361f7d6b-b438-4fda-9aa5-58356615fb58" providerId="ADAL" clId="{5191746E-03E8-499B-9791-868772827121}" dt="2026-10-09T00:42:11.384" v="219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Juan Esteban Carrillo Rosenstiehl" userId="361f7d6b-b438-4fda-9aa5-58356615fb58" providerId="ADAL" clId="{5191746E-03E8-499B-9791-868772827121}" dt="2026-10-09T00:42:26.171" v="232" actId="6549"/>
          <ac:spMkLst>
            <pc:docMk/>
            <pc:sldMk cId="0" sldId="257"/>
            <ac:spMk id="15" creationId="{00000000-0000-0000-0000-000000000000}"/>
          </ac:spMkLst>
        </pc:spChg>
      </pc:sldChg>
      <pc:sldChg chg="modSp mod">
        <pc:chgData name="Juan Esteban Carrillo Rosenstiehl" userId="361f7d6b-b438-4fda-9aa5-58356615fb58" providerId="ADAL" clId="{5191746E-03E8-499B-9791-868772827121}" dt="2026-10-09T00:44:01.360" v="235" actId="20577"/>
        <pc:sldMkLst>
          <pc:docMk/>
          <pc:sldMk cId="0" sldId="258"/>
        </pc:sldMkLst>
        <pc:spChg chg="mod">
          <ac:chgData name="Juan Esteban Carrillo Rosenstiehl" userId="361f7d6b-b438-4fda-9aa5-58356615fb58" providerId="ADAL" clId="{5191746E-03E8-499B-9791-868772827121}" dt="2026-10-09T00:44:01.360" v="235" actId="20577"/>
          <ac:spMkLst>
            <pc:docMk/>
            <pc:sldMk cId="0" sldId="258"/>
            <ac:spMk id="9" creationId="{00000000-0000-0000-0000-000000000000}"/>
          </ac:spMkLst>
        </pc:spChg>
      </pc:sldChg>
      <pc:sldChg chg="delSp modSp mod">
        <pc:chgData name="Juan Esteban Carrillo Rosenstiehl" userId="361f7d6b-b438-4fda-9aa5-58356615fb58" providerId="ADAL" clId="{5191746E-03E8-499B-9791-868772827121}" dt="2026-10-09T23:48:12.007" v="252" actId="478"/>
        <pc:sldMkLst>
          <pc:docMk/>
          <pc:sldMk cId="0" sldId="259"/>
        </pc:sldMkLst>
        <pc:spChg chg="mod">
          <ac:chgData name="Juan Esteban Carrillo Rosenstiehl" userId="361f7d6b-b438-4fda-9aa5-58356615fb58" providerId="ADAL" clId="{5191746E-03E8-499B-9791-868772827121}" dt="2026-10-09T23:48:03.561" v="251" actId="20577"/>
          <ac:spMkLst>
            <pc:docMk/>
            <pc:sldMk cId="0" sldId="259"/>
            <ac:spMk id="13" creationId="{00000000-0000-0000-0000-000000000000}"/>
          </ac:spMkLst>
        </pc:spChg>
        <pc:spChg chg="del">
          <ac:chgData name="Juan Esteban Carrillo Rosenstiehl" userId="361f7d6b-b438-4fda-9aa5-58356615fb58" providerId="ADAL" clId="{5191746E-03E8-499B-9791-868772827121}" dt="2026-10-09T23:48:12.007" v="252" actId="478"/>
          <ac:spMkLst>
            <pc:docMk/>
            <pc:sldMk cId="0" sldId="259"/>
            <ac:spMk id="14" creationId="{00000000-0000-0000-0000-000000000000}"/>
          </ac:spMkLst>
        </pc:spChg>
      </pc:sldChg>
      <pc:sldChg chg="modSp mod">
        <pc:chgData name="Juan Esteban Carrillo Rosenstiehl" userId="361f7d6b-b438-4fda-9aa5-58356615fb58" providerId="ADAL" clId="{5191746E-03E8-499B-9791-868772827121}" dt="2026-10-09T23:28:12.204" v="250" actId="20577"/>
        <pc:sldMkLst>
          <pc:docMk/>
          <pc:sldMk cId="0" sldId="261"/>
        </pc:sldMkLst>
        <pc:spChg chg="mod">
          <ac:chgData name="Juan Esteban Carrillo Rosenstiehl" userId="361f7d6b-b438-4fda-9aa5-58356615fb58" providerId="ADAL" clId="{5191746E-03E8-499B-9791-868772827121}" dt="2026-10-09T00:46:49.226" v="237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Juan Esteban Carrillo Rosenstiehl" userId="361f7d6b-b438-4fda-9aa5-58356615fb58" providerId="ADAL" clId="{5191746E-03E8-499B-9791-868772827121}" dt="2026-10-09T23:28:12.204" v="250" actId="20577"/>
          <ac:spMkLst>
            <pc:docMk/>
            <pc:sldMk cId="0" sldId="261"/>
            <ac:spMk id="9" creationId="{00000000-0000-0000-0000-000000000000}"/>
          </ac:spMkLst>
        </pc:spChg>
      </pc:sldChg>
      <pc:sldChg chg="mod modShow">
        <pc:chgData name="Juan Esteban Carrillo Rosenstiehl" userId="361f7d6b-b438-4fda-9aa5-58356615fb58" providerId="ADAL" clId="{5191746E-03E8-499B-9791-868772827121}" dt="2026-10-09T00:51:28.955" v="239" actId="729"/>
        <pc:sldMkLst>
          <pc:docMk/>
          <pc:sldMk cId="0" sldId="262"/>
        </pc:sldMkLst>
      </pc:sldChg>
      <pc:sldChg chg="mod modShow">
        <pc:chgData name="Juan Esteban Carrillo Rosenstiehl" userId="361f7d6b-b438-4fda-9aa5-58356615fb58" providerId="ADAL" clId="{5191746E-03E8-499B-9791-868772827121}" dt="2026-10-09T00:50:20.427" v="238" actId="729"/>
        <pc:sldMkLst>
          <pc:docMk/>
          <pc:sldMk cId="0" sldId="263"/>
        </pc:sldMkLst>
      </pc:sldChg>
      <pc:sldChg chg="mod modShow">
        <pc:chgData name="Juan Esteban Carrillo Rosenstiehl" userId="361f7d6b-b438-4fda-9aa5-58356615fb58" providerId="ADAL" clId="{5191746E-03E8-499B-9791-868772827121}" dt="2026-10-09T00:54:56.861" v="240" actId="729"/>
        <pc:sldMkLst>
          <pc:docMk/>
          <pc:sldMk cId="0" sldId="264"/>
        </pc:sldMkLst>
      </pc:sldChg>
      <pc:sldChg chg="modSp mod">
        <pc:chgData name="Juan Esteban Carrillo Rosenstiehl" userId="361f7d6b-b438-4fda-9aa5-58356615fb58" providerId="ADAL" clId="{5191746E-03E8-499B-9791-868772827121}" dt="2026-10-08T17:37:45.572" v="178" actId="14100"/>
        <pc:sldMkLst>
          <pc:docMk/>
          <pc:sldMk cId="0" sldId="265"/>
        </pc:sldMkLst>
        <pc:spChg chg="mod">
          <ac:chgData name="Juan Esteban Carrillo Rosenstiehl" userId="361f7d6b-b438-4fda-9aa5-58356615fb58" providerId="ADAL" clId="{5191746E-03E8-499B-9791-868772827121}" dt="2026-10-08T17:37:45.572" v="178" actId="14100"/>
          <ac:spMkLst>
            <pc:docMk/>
            <pc:sldMk cId="0" sldId="265"/>
            <ac:spMk id="10" creationId="{00000000-0000-0000-0000-000000000000}"/>
          </ac:spMkLst>
        </pc:spChg>
        <pc:spChg chg="mod">
          <ac:chgData name="Juan Esteban Carrillo Rosenstiehl" userId="361f7d6b-b438-4fda-9aa5-58356615fb58" providerId="ADAL" clId="{5191746E-03E8-499B-9791-868772827121}" dt="2026-10-08T17:36:42.620" v="171" actId="2763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Juan Esteban Carrillo Rosenstiehl" userId="361f7d6b-b438-4fda-9aa5-58356615fb58" providerId="ADAL" clId="{5191746E-03E8-499B-9791-868772827121}" dt="2026-10-08T17:37:29.035" v="175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Juan Esteban Carrillo Rosenstiehl" userId="361f7d6b-b438-4fda-9aa5-58356615fb58" providerId="ADAL" clId="{5191746E-03E8-499B-9791-868772827121}" dt="2026-10-08T17:37:29.035" v="175" actId="107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Juan Esteban Carrillo Rosenstiehl" userId="361f7d6b-b438-4fda-9aa5-58356615fb58" providerId="ADAL" clId="{5191746E-03E8-499B-9791-868772827121}" dt="2026-10-08T17:37:29.035" v="175" actId="1076"/>
          <ac:spMkLst>
            <pc:docMk/>
            <pc:sldMk cId="0" sldId="265"/>
            <ac:spMk id="14" creationId="{00000000-0000-0000-0000-000000000000}"/>
          </ac:spMkLst>
        </pc:spChg>
      </pc:sldChg>
      <pc:sldChg chg="ord">
        <pc:chgData name="Juan Esteban Carrillo Rosenstiehl" userId="361f7d6b-b438-4fda-9aa5-58356615fb58" providerId="ADAL" clId="{5191746E-03E8-499B-9791-868772827121}" dt="2026-10-09T23:27:42.473" v="242"/>
        <pc:sldMkLst>
          <pc:docMk/>
          <pc:sldMk cId="0" sldId="266"/>
        </pc:sldMkLst>
      </pc:sldChg>
      <pc:sldChg chg="ord">
        <pc:chgData name="Juan Esteban Carrillo Rosenstiehl" userId="361f7d6b-b438-4fda-9aa5-58356615fb58" providerId="ADAL" clId="{5191746E-03E8-499B-9791-868772827121}" dt="2026-10-09T23:27:44.205" v="244"/>
        <pc:sldMkLst>
          <pc:docMk/>
          <pc:sldMk cId="0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5327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(0:30) Presentar el proyecto en una frase: un flujo ETL que toma los datos abiertos del SECOP II y entrega un índice de riesgo binario (0 o 1) por contrato de contratación directa para identificar cuáles deben revisarse. Presentar al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(1:00) Plantear el problema: la contratación directa tiene menos competencia y son demasiados contratos para revisarlos todos; la respuesta es identificar cuáles deben revisarse. Dejar claro que son señales de riesgo: los datos no traen casos de corrupción comprobados para validar. [Completar el usuario principal cuando el grupo lo confirme.]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(0:45) Las cuatro bases se descargan de la API de datos abiertos. El índice se calcula con Contratos; las otras tres se transforman y publican como apoyo. [Completar filas, tamaños, periodo y licencia con la corrida oficial. Aclarar a qué capa corresponde el tamaño total.]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(1:15) Es ETL porque se transforma antes de cargar, y lo organizamos en tres capas. Bronze guarda lo que entregó la API, tal cual: las cuatro bases en CSV, 10,63 GB, con un manifiesto que registra cada archivo, sus filas y su tamaño. Silver limpia y tipifica textos, fechas e importes en Parquet, sin eliminar filas; antes de seguir, un control revisa columnas y esquema y detiene el flujo si algo no cuadra. Las cuatro bases de Silver se cargan a PostgreSQL con COPY. Gold usa Dask y DuckDB para quedarse con la última versión de cada contrato y solo con contratación directa; cada exclusión queda con su motivo. De 5.642.731 filas quedan 4.353.720 contratos, que también se publican en PostgreSQL. Sobre Gold se calculan las señales D1, D2 y D3. Prefect coordina las etapas, registra estados y errores y genera un informe por ejecución. Hoy PostgreSQL corre localmente en Docker; la información final se cargará en AWS. Ojo: el control de calidad revisa la estructura, no que los valores sean correctos; por eso aparecieron los montos imposibles que mostramos después. SI PREGUNTAN POR DASK: en Gold, un clúster prepara contratos (2 workers de 3 GiB) y otro corre el SQL con DuckDB (1 worker de 6 GiB); en D2, las referencias se calculan por bloques con 2 procesos de 2 GiB. No alcanzamos a hacer la prueba comparando dos configuraciones de la misma tarea. SI PREGUNTAN POR GRAFANA: no alcanzamos a construir el tablero; queda para la entrega final. [Si preguntan por hashes SHA-256: confirmar con Miguel si el manifiesto los guarda; en los notebooks solo consta la verificación de nombres, filas y tamaños.] Si preguntan por tiempos: la última corrida completa (8 de octubre) tardó 1 h 39 min; Gold 55 min y PostgreSQL 44 min, reutilizando Bronze.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(1:00) La reducción no son solo duplicados: incluye elegir el universo (solo contratación directa), quedarse con la última versión de cada contrato y apartar versiones ambiguas en vez de elegir al azar. Silver no elimina filas; solo Gold filtra, y cada exclusión queda guardada con su motivo en un archivo de exclusiones. Se cumple: filas de entrada = contratos analizados + exclusiones. Los 35.664 contratos con valor cero no se excluyen: siguen en el universo y quedan sin evaluar en las señales que usan el monto. Los 54.837 valores atípicos son una descripción del EDA (cercas IQR por tipo de contrato); no son las alertas de D2, que usan otro método. [Confirmar de dónde sale la cifra de 20 conversiones fallidas: no aparece en los notebooks.]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(1:00) El índice combina tres señales. D1, concentración: se enciende si un proveedor se lleva más del 40 % del valor que contrata la entidad en 365 días; exige al menos 10 contratos, 3 proveedores y 95 % de cobertura. D2, valor atípico: compara el valor del contrato con al menos 30 contratos comparables de los 24 meses anteriores (mismo código UNSPSC, tipo y causal); se enciende si está a más de 3,5 desviaciones robustas, calculadas con mediana y MAD sobre el logaritmo del valor. Si la MAD es cero, usa el percentil 95. No usa promedio ni desviación estándar. D3, acumulación de diciembre: compara la parte de los contratos del año que la entidad firma en diciembre con sus años anteriores completos; exige al menos 30 contratos en el año y 3 años de historia, y se enciende si supera el mayor entre 30 % y Q3 + 1,5 × IQR de su historia. La señal se asigna solo a los contratos de diciembre y un año incompleto, como 2026, no se evalúa. La regla del grupo: un contrato queda en ALERTA si tiene al menos 2 de las 3 señales. Si le faltan datos y con lo disponible no se puede decidir, queda NO EVALUABLE; no lo contamos como cero. Resultado de la corrida actual: 568 contratos en alerta, 4.160.956 sin alerta y 192.196 no evaluables, el 4,4 %. Ojo con D3: sus 1.454 contratos vienen de solo 9 entidades-año, porque cuando una entidad acumula en diciembre se marcan sus contratos de diciembre; no son 1.454 casos independientes. Estas cifras son antes de aplicar la regla de montos inválidos que mostramos más adelante; al aplicarla, D2 y la clasificación pueden cambiar. Fuente de los umbrales: código del flujo de alertas (alertas.py) y notebook V2.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(1:00) Al revisar los resultados encontramos un problema de calidad en los datos de origen, y queremos mostrarlo. Si sumamos el valor de todos los contratos directos con monto «válido», da unos 6,03 × 10^17 pesos: cientos de veces el PIB de Colombia. Es imposible. La causa más probable son errores de digitación, por ejemplo ceros de más, y se concentran en 2019, 2020 y 2021. Esto importa por dos razones. Primero, los 568 contratos en ALERTA suman el 98 % de ese valor: parte de las alertas por valor atípico (D2) probablemente son errores de registro, no riesgo. Segundo, D1 mide qué parte del valor contratado por la entidad se lleva cada proveedor: un monto gigante infla el peso de ese proveedor y reduce el de los demás. Por eso los resultados se presentan en número de contratos y no en pesos. Si preguntan: el monto viene así desde la fuente; los valores más altos se contrastaron con el archivo original descargado (capa Bronze) y coinciden, así que no es un error de nuestro proceso. Si preguntan si D2 se infla con estos valores: D2 usa mediana y MAD, que resisten bien los extremos; el problema principal en D2 son las falsas alertas del propio contrato con monto imposible. Ojo: no todos los montos marcados son errores confirmados. Algunos son convenios grandes que podrían ser reales, por ejemplo un mandato DNP–Enterritorio por 3,18 billones o un convenio de MinSalud por 1,6 billones; por eso decimos «causa probable» y la regla marca el monto, no lo borra ni lo corrige.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(1:00) La solución es marcar, no corregir: no adivinamos cuál era el valor real. Un monto se marca como inválido si cumple cualquiera de tres reglas: supera un tope de 10 billones de pesos; es más de 1.000 veces la mediana de los contratos de su mismo tipo y año; o no es positivo. Ese contrato queda «no evaluable» en la señal de valor atípico, no entra en el cálculo de lo que es normal, y después se recalcula la clasificación con la regla de 2 de 3 señales. Con estas reglas hay 36.098 contratos con valor inválido: 434 montos extremos y 35.664 en cero. De ellos, 107 están hoy en ALERTA, de 568 alertas en total, y los 107 tienen la señal de valor atípico encendida: son justamente las falsas alertas que queremos evitar. La regla corre en el pipeline antes de D2 y se aplicará en la versión final, documentando cuántos contratos se excluyeron. Si preguntan por qué no se borran: el contrato existe; solo su monto no es confiable, y puede seguir evaluándose con las otras dos señales. Si preguntan si cambian las cifras: sí; los 568 contratos en ALERTA y el 4,4 % NO_EVALUABLE son de la corrida actual, antes de aplicar la regla. Si preguntan por D1: el diagnóstico (notebook V2) recomienda que el contrato con valor inválido también quede no evaluable en D1, porque D1 usa montos; está como decisión pendiente para la versión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(1:00) La prueba compara la misma tarea con dos configuraciones, cambiando una sola variable, para ver el efecto en tiempo y memoria. [Completar con los resultados. Si se mantiene la misma memoria total en ambas configuraciones, decirlo explícitamente.]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(0:45) Esta diapositiva cumple el requisito del curso: bytes, registros, tiempo y memoria en cada etapa. Señalar qué etapa consume más tiempo y por qué. [Completar con la corrida oficial. Si alguna etapa reutilizó caché, decirlo: sus tiempos no representan un proceso desde cero.]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(1:30) Mostrar cómo vería el usuario los resultados: indicadores generales arriba y gráficos para explorar por entidad y en el tiempo. Luego los tres hallazgos principales, en una frase cada uno. Los resultados se muestran en número de contratos, no en pesos, por el hallazgo de montos imposibles (siguiente diapositiva); 568 contratos en ALERTA antes de aplicar la regla de montos inválidos. [Reemplazar el recuadro por la captura del tablero real y redactar los hallazgos con los datos finales. Si Grafana no está listo, usar los gráficos del notebook y decir que el tablero está en construcción.]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(1:15) Cerrar con honestidad sobre lo que el índice puede y no puede decir. Limitaciones: son señales, no pruebas; el registro tiene campos vacíos e inconsistentes; la actualización es por fotografía completa; y hay 35.664 contratos con valor cero y 434 montos extremos. Próximos pasos: aplicar la regla de montos inválidos en un lote nuevo (versión 2.1) y comparar contra la 2.0 contrato por contrato; decidir cómo tratar esos montos en D1; y cargar la información final en AWS. Conclusión: de 4,35 millones de contratos, 568 quedan priorizados para revisión, con trazabilidad completa; antes de usar el resultado hay que depurar los montos. Abrir a preguntas. Respuestas rápidas: ¿por qué PostgreSQL? publicación relacional para consultas y para conectar un tablero. ¿Dónde se reducen datos? al seleccionar columnas y fechas en la extracción y en las exclusiones de Gold. ¿Cómo se sabe que terminó? por el estado final del informe de Prefect. ¿Y Grafana? no alcanzamos a construir el tablero; queda para la entrega final. ¿Y la prueba de Dask? ver respuesta en las notas de la diapositiva del ETL: Dask se usa en Gold y en D2, pero no alcanzamos a comparar dos configuraciones de la misma tarea.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54101"/>
            <a:ext cx="10566400" cy="4191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54101"/>
            <a:ext cx="10566400" cy="4191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98107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>
                <a:solidFill>
                  <a:srgbClr val="F0A2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Proyecto Big Data · Maestría en Analítica Aplicada</a:t>
            </a:r>
            <a:endParaRPr lang="en-US" sz="14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565660"/>
            <a:ext cx="9810750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b="1" i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Índice de riesgo en contratación directa</a:t>
            </a:r>
            <a:endParaRPr lang="en-US" sz="4800"/>
          </a:p>
        </p:txBody>
      </p:sp>
      <p:sp>
        <p:nvSpPr>
          <p:cNvPr id="5" name="Shape 3"/>
          <p:cNvSpPr/>
          <p:nvPr/>
        </p:nvSpPr>
        <p:spPr>
          <a:xfrm>
            <a:off x="812800" y="5106905"/>
            <a:ext cx="10566400" cy="0"/>
          </a:xfrm>
          <a:prstGeom prst="line">
            <a:avLst/>
          </a:prstGeom>
          <a:noFill/>
          <a:ln w="6350">
            <a:solidFill>
              <a:srgbClr val="3A486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812800" y="5300255"/>
            <a:ext cx="3810958" cy="1439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F0A2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Grupo:</a:t>
            </a:r>
          </a:p>
          <a:p>
            <a:pPr marL="285750" indent="-285750" algn="l">
              <a:lnSpc>
                <a:spcPts val="1960"/>
              </a:lnSpc>
              <a:buFontTx/>
              <a:buChar char="-"/>
            </a:pPr>
            <a:r>
              <a:rPr lang="en-US" sz="1400">
                <a:solidFill>
                  <a:srgbClr val="F0A24A"/>
                </a:solidFill>
                <a:latin typeface="IBM Plex Sans" pitchFamily="34" charset="0"/>
              </a:rPr>
              <a:t>Luisa Fernanda Portela</a:t>
            </a:r>
          </a:p>
          <a:p>
            <a:pPr marL="285750" indent="-285750" algn="l">
              <a:lnSpc>
                <a:spcPts val="1960"/>
              </a:lnSpc>
              <a:buFontTx/>
              <a:buChar char="-"/>
            </a:pPr>
            <a:r>
              <a:rPr lang="en-US" sz="1400">
                <a:solidFill>
                  <a:srgbClr val="F0A24A"/>
                </a:solidFill>
                <a:latin typeface="IBM Plex Sans" pitchFamily="34" charset="0"/>
              </a:rPr>
              <a:t>Miguel Angel Luna</a:t>
            </a:r>
          </a:p>
          <a:p>
            <a:pPr marL="285750" indent="-285750" algn="l">
              <a:lnSpc>
                <a:spcPts val="1960"/>
              </a:lnSpc>
              <a:buFontTx/>
              <a:buChar char="-"/>
            </a:pPr>
            <a:r>
              <a:rPr lang="en-US" sz="1400">
                <a:solidFill>
                  <a:srgbClr val="F0A24A"/>
                </a:solidFill>
                <a:latin typeface="IBM Plex Sans" pitchFamily="34" charset="0"/>
              </a:rPr>
              <a:t>Santiago Barreto</a:t>
            </a:r>
          </a:p>
          <a:p>
            <a:pPr marL="285750" indent="-285750" algn="l">
              <a:lnSpc>
                <a:spcPts val="1960"/>
              </a:lnSpc>
              <a:buFontTx/>
              <a:buChar char="-"/>
            </a:pPr>
            <a:r>
              <a:rPr lang="en-US" sz="1400">
                <a:solidFill>
                  <a:srgbClr val="F0A24A"/>
                </a:solidFill>
                <a:latin typeface="IBM Plex Sans" pitchFamily="34" charset="0"/>
              </a:rPr>
              <a:t>Juan Esteban Carrillo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 · Problema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919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¿Qué contratos de contratación directa deben revisarse?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812800" y="2250281"/>
            <a:ext cx="98107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3A42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Hay </a:t>
            </a:r>
            <a:r>
              <a:rPr lang="en-US" sz="16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4.353.720</a:t>
            </a:r>
            <a:r>
              <a:rPr lang="en-US" sz="1600">
                <a:solidFill>
                  <a:srgbClr val="3A42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contratos directos firmados entre el 12 de sep. 2017 y el 21 de sep. 2026: no se pueden revisar uno a uno. El proyecto identifica cuáles deben revisarse.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815975" y="3076377"/>
            <a:ext cx="3414117" cy="1479352"/>
          </a:xfrm>
          <a:prstGeom prst="roundRect">
            <a:avLst>
              <a:gd name="adj" fmla="val 6653"/>
            </a:avLst>
          </a:prstGeom>
          <a:solidFill>
            <a:srgbClr val="FBFAF7"/>
          </a:solidFill>
          <a:ln w="6350">
            <a:solidFill>
              <a:srgbClr val="DCD8C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1047750" y="3308152"/>
            <a:ext cx="30390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Usuario principal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1047750" y="3572272"/>
            <a:ext cx="303908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Entes de control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1047750" y="3897313"/>
            <a:ext cx="30390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3A42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Quién usa el índice y para qué decisión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388842" y="3076377"/>
            <a:ext cx="3414216" cy="1479352"/>
          </a:xfrm>
          <a:prstGeom prst="roundRect">
            <a:avLst>
              <a:gd name="adj" fmla="val 6653"/>
            </a:avLst>
          </a:prstGeom>
          <a:solidFill>
            <a:srgbClr val="FBFAF7"/>
          </a:solidFill>
          <a:ln w="6350">
            <a:solidFill>
              <a:srgbClr val="DCD8C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4620617" y="3308152"/>
            <a:ext cx="30391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Unidad de análisis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4620617" y="3572272"/>
            <a:ext cx="303918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contrato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4620617" y="3897313"/>
            <a:ext cx="303918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3A42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Identificado por id_contrato, en su última versión válida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7961809" y="3076377"/>
            <a:ext cx="3414216" cy="1479352"/>
          </a:xfrm>
          <a:prstGeom prst="roundRect">
            <a:avLst>
              <a:gd name="adj" fmla="val 6653"/>
            </a:avLst>
          </a:prstGeom>
          <a:solidFill>
            <a:srgbClr val="FBFAF7"/>
          </a:solidFill>
          <a:ln w="6350">
            <a:solidFill>
              <a:srgbClr val="DCD8C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8193584" y="3308152"/>
            <a:ext cx="30391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Variable </a:t>
            </a:r>
            <a:r>
              <a:rPr lang="en-US" sz="1200" err="1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8193584" y="3572272"/>
            <a:ext cx="303918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err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Índice</a:t>
            </a:r>
            <a:r>
              <a:rPr lang="en-US" sz="18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</a:t>
            </a:r>
            <a:r>
              <a:rPr lang="en-US" sz="1800" b="1" err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riesgo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8193584" y="3897313"/>
            <a:ext cx="31792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3A42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Solo para contratos de contratación directa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812800" y="4812903"/>
            <a:ext cx="10566400" cy="604441"/>
          </a:xfrm>
          <a:prstGeom prst="roundRect">
            <a:avLst>
              <a:gd name="adj" fmla="val 8404"/>
            </a:avLst>
          </a:prstGeom>
          <a:solidFill>
            <a:srgbClr val="E9E4D8"/>
          </a:solidFill>
          <a:ln/>
        </p:spPr>
        <p:txBody>
          <a:bodyPr wrap="square" lIns="264521" tIns="162921" rIns="0" bIns="137521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Señales, no pruebas:</a:t>
            </a:r>
            <a:r>
              <a:rPr lang="en-US" sz="14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el índice orienta la revisión; no demuestra irregularidades ni es una probabilidad de corrupción.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812800" y="4812903"/>
            <a:ext cx="10566400" cy="604441"/>
          </a:xfrm>
          <a:custGeom>
            <a:avLst/>
            <a:gdLst/>
            <a:ahLst/>
            <a:cxnLst/>
            <a:rect l="l" t="t" r="r" b="b"/>
            <a:pathLst>
              <a:path w="10566400" h="604441">
                <a:moveTo>
                  <a:pt x="50800" y="604441"/>
                </a:moveTo>
                <a:lnTo>
                  <a:pt x="50800" y="604441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lnTo>
                  <a:pt x="50800" y="604441"/>
                </a:lnTo>
                <a:close/>
              </a:path>
            </a:pathLst>
          </a:custGeom>
          <a:solidFill>
            <a:srgbClr val="D9731A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41483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SECOP II · Índice de riesgo en contratación directa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111454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Datos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Cuatro bases abiertas del SECOP II</a:t>
            </a:r>
            <a:endParaRPr lang="en-US" sz="320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66801"/>
          <a:ext cx="7200900" cy="2445545"/>
        </p:xfrm>
        <a:graphic>
          <a:graphicData uri="http://schemas.openxmlformats.org/drawingml/2006/table">
            <a:tbl>
              <a:tblPr/>
              <a:tblGrid>
                <a:gridCol w="180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0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Filas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0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Tamaño CSV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0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Papel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0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Contratos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5.642.731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6,75 GB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Principal del índice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Procesos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9.070.383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3,48 GB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5B647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Auxiliar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Proveedores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1.620.376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0,25 GB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5B647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Auxiliar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818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Grupos de proveedores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712.905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0,15 GB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5B647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Auxiliar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31200" y="1854101"/>
            <a:ext cx="3048000" cy="1960761"/>
          </a:xfrm>
          <a:prstGeom prst="roundRect">
            <a:avLst>
              <a:gd name="adj" fmla="val 5182"/>
            </a:avLst>
          </a:prstGeom>
          <a:solidFill>
            <a:srgbClr val="16213A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8636000" y="2158901"/>
            <a:ext cx="25115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C9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Tamaño total procesado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>
          <a:xfrm>
            <a:off x="8636000" y="2448421"/>
            <a:ext cx="251155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>
                <a:solidFill>
                  <a:srgbClr val="F0A24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10,63 GB</a:t>
            </a:r>
            <a:endParaRPr lang="en-US" sz="4000"/>
          </a:p>
        </p:txBody>
      </p:sp>
      <p:sp>
        <p:nvSpPr>
          <p:cNvPr id="8" name="Text 5"/>
          <p:cNvSpPr/>
          <p:nvPr/>
        </p:nvSpPr>
        <p:spPr>
          <a:xfrm>
            <a:off x="8636000" y="3083421"/>
            <a:ext cx="251155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C9CF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Requisito del curso: más de 1,5 GB procesados completos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812800" y="4617145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3A42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Fuente: datos.gov.co vía API Socrata · Periodo: </a:t>
            </a:r>
            <a:r>
              <a:rPr lang="en-US" sz="14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ene. 2017 – 21 </a:t>
            </a:r>
            <a:r>
              <a:rPr lang="en-US" sz="1400" b="1" err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sep.</a:t>
            </a:r>
            <a:r>
              <a:rPr lang="en-US" sz="14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2026</a:t>
            </a:r>
            <a:endParaRPr lang="en-US" sz="1400"/>
          </a:p>
        </p:txBody>
      </p:sp>
      <p:sp>
        <p:nvSpPr>
          <p:cNvPr id="10" name="Text 7"/>
          <p:cNvSpPr/>
          <p:nvPr/>
        </p:nvSpPr>
        <p:spPr>
          <a:xfrm>
            <a:off x="812800" y="6238280"/>
            <a:ext cx="41483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SECOP II · Índice de riesgo en contratación directa</a:t>
            </a:r>
            <a:endParaRPr lang="en-US" sz="1200"/>
          </a:p>
        </p:txBody>
      </p:sp>
      <p:sp>
        <p:nvSpPr>
          <p:cNvPr id="11" name="Text 8"/>
          <p:cNvSpPr/>
          <p:nvPr/>
        </p:nvSpPr>
        <p:spPr>
          <a:xfrm>
            <a:off x="111454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 b="1" dirty="0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Arquitectura del ETL</a:t>
            </a:r>
          </a:p>
        </p:txBody>
      </p:sp>
      <p:sp>
        <p:nvSpPr>
          <p:cNvPr id="3" name="Título 3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s-CO" sz="3200" b="1" dirty="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flujo por capas: Bronze, Silver y Gold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812800" y="6238280"/>
            <a:ext cx="850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 dirty="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SECOP II · Índice de riesgo en contratación directa</a:t>
            </a:r>
          </a:p>
        </p:txBody>
      </p:sp>
      <p:sp>
        <p:nvSpPr>
          <p:cNvPr id="5" name="Texto 5"/>
          <p:cNvSpPr txBox="1"/>
          <p:nvPr/>
        </p:nvSpPr>
        <p:spPr>
          <a:xfrm>
            <a:off x="111454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 dirty="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</a:p>
        </p:txBody>
      </p:sp>
      <p:sp>
        <p:nvSpPr>
          <p:cNvPr id="6" name="Capa 6"/>
          <p:cNvSpPr txBox="1"/>
          <p:nvPr/>
        </p:nvSpPr>
        <p:spPr>
          <a:xfrm>
            <a:off x="812800" y="1720000"/>
            <a:ext cx="3420467" cy="2300000"/>
          </a:xfrm>
          <a:prstGeom prst="roundRect">
            <a:avLst>
              <a:gd name="adj" fmla="val 8000"/>
            </a:avLst>
          </a:prstGeom>
          <a:solidFill>
            <a:srgbClr val="FBFAF7"/>
          </a:solidFill>
          <a:ln w="6350">
            <a:solidFill>
              <a:srgbClr val="DCD8CC"/>
            </a:solidFill>
            <a:prstDash val="solid"/>
          </a:ln>
        </p:spPr>
        <p:txBody>
          <a:bodyPr wrap="square" lIns="203200" tIns="180000" rIns="160000" bIns="120000" rtlCol="0" anchor="t">
            <a:noAutofit/>
          </a:bodyPr>
          <a:lstStyle/>
          <a:p>
            <a:pPr marL="0" indent="0" algn="l">
              <a:lnSpc>
                <a:spcPts val="1680"/>
              </a:lnSpc>
              <a:spcAft>
                <a:spcPts val="400"/>
              </a:spcAft>
              <a:buNone/>
            </a:pPr>
            <a:r>
              <a:rPr lang="es-CO" sz="1200" b="1" dirty="0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Extraer</a:t>
            </a:r>
          </a:p>
          <a:p>
            <a:pPr marL="0" indent="0" algn="l">
              <a:lnSpc>
                <a:spcPts val="2800"/>
              </a:lnSpc>
              <a:spcAft>
                <a:spcPts val="600"/>
              </a:spcAft>
              <a:buNone/>
            </a:pPr>
            <a:r>
              <a:rPr lang="es-CO" sz="2400" b="1" dirty="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Bronze</a:t>
            </a:r>
          </a:p>
          <a:p>
            <a:pPr marL="0" indent="0" algn="l">
              <a:lnSpc>
                <a:spcPts val="1700"/>
              </a:lnSpc>
              <a:spcAft>
                <a:spcPts val="400"/>
              </a:spcAft>
              <a:buNone/>
            </a:pPr>
            <a:r>
              <a:rPr lang="es-CO" sz="1300" b="1" dirty="0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 </a:t>
            </a:r>
            <a:r>
              <a:rPr lang="es-CO" sz="1300" dirty="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CSV de la API: procesos, contratos, proveedores y grupos</a:t>
            </a:r>
          </a:p>
          <a:p>
            <a:pPr marL="0" indent="0" algn="l">
              <a:lnSpc>
                <a:spcPts val="1700"/>
              </a:lnSpc>
              <a:spcAft>
                <a:spcPts val="400"/>
              </a:spcAft>
              <a:buNone/>
            </a:pPr>
            <a:r>
              <a:rPr lang="es-CO" sz="1300" b="1" dirty="0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 </a:t>
            </a:r>
            <a:r>
              <a:rPr lang="es-CO" sz="1300" dirty="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Manifiesto de archivos, filas y tamaños</a:t>
            </a:r>
          </a:p>
          <a:p>
            <a:pPr marL="0" indent="0" algn="l">
              <a:lnSpc>
                <a:spcPts val="1700"/>
              </a:lnSpc>
              <a:buNone/>
            </a:pPr>
            <a:r>
              <a:rPr lang="es-CO" sz="1300" b="1" dirty="0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 </a:t>
            </a:r>
            <a:r>
              <a:rPr lang="es-CO" sz="1300" dirty="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10,63 GB</a:t>
            </a:r>
          </a:p>
        </p:txBody>
      </p:sp>
      <p:sp>
        <p:nvSpPr>
          <p:cNvPr id="7" name="Capa 7"/>
          <p:cNvSpPr txBox="1"/>
          <p:nvPr/>
        </p:nvSpPr>
        <p:spPr>
          <a:xfrm>
            <a:off x="4385667" y="1720000"/>
            <a:ext cx="3420467" cy="2300000"/>
          </a:xfrm>
          <a:prstGeom prst="roundRect">
            <a:avLst>
              <a:gd name="adj" fmla="val 8000"/>
            </a:avLst>
          </a:prstGeom>
          <a:solidFill>
            <a:srgbClr val="FBFAF7"/>
          </a:solidFill>
          <a:ln w="6350">
            <a:solidFill>
              <a:srgbClr val="DCD8CC"/>
            </a:solidFill>
            <a:prstDash val="solid"/>
          </a:ln>
        </p:spPr>
        <p:txBody>
          <a:bodyPr wrap="square" lIns="203200" tIns="180000" rIns="160000" bIns="120000" rtlCol="0" anchor="t">
            <a:noAutofit/>
          </a:bodyPr>
          <a:lstStyle/>
          <a:p>
            <a:pPr marL="0" indent="0" algn="l">
              <a:lnSpc>
                <a:spcPts val="1680"/>
              </a:lnSpc>
              <a:spcAft>
                <a:spcPts val="400"/>
              </a:spcAft>
              <a:buNone/>
            </a:pPr>
            <a:r>
              <a:rPr lang="es-CO" sz="1200" b="1" dirty="0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Transformar y publicar</a:t>
            </a:r>
          </a:p>
          <a:p>
            <a:pPr marL="0" indent="0" algn="l">
              <a:lnSpc>
                <a:spcPts val="2800"/>
              </a:lnSpc>
              <a:spcAft>
                <a:spcPts val="600"/>
              </a:spcAft>
              <a:buNone/>
            </a:pPr>
            <a:r>
              <a:rPr lang="es-CO" sz="2400" b="1" dirty="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Silver</a:t>
            </a:r>
          </a:p>
          <a:p>
            <a:pPr marL="0" indent="0" algn="l">
              <a:lnSpc>
                <a:spcPts val="1700"/>
              </a:lnSpc>
              <a:spcAft>
                <a:spcPts val="400"/>
              </a:spcAft>
              <a:buNone/>
            </a:pPr>
            <a:r>
              <a:rPr lang="es-CO" sz="1300" b="1" dirty="0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 </a:t>
            </a:r>
            <a:r>
              <a:rPr lang="es-CO" sz="1300" dirty="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Parquet con textos, fechas e importes tipados; no borra filas</a:t>
            </a:r>
          </a:p>
          <a:p>
            <a:pPr marL="0" indent="0" algn="l">
              <a:lnSpc>
                <a:spcPts val="1700"/>
              </a:lnSpc>
              <a:spcAft>
                <a:spcPts val="400"/>
              </a:spcAft>
              <a:buNone/>
            </a:pPr>
            <a:r>
              <a:rPr lang="es-CO" sz="1300" b="1" dirty="0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 </a:t>
            </a:r>
            <a:r>
              <a:rPr lang="es-CO" sz="1300" dirty="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 de esquema: si falla, se detiene</a:t>
            </a:r>
          </a:p>
          <a:p>
            <a:pPr marL="0" indent="0" algn="l">
              <a:lnSpc>
                <a:spcPts val="1700"/>
              </a:lnSpc>
              <a:buNone/>
            </a:pPr>
            <a:r>
              <a:rPr lang="es-CO" sz="1300" b="1" dirty="0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 </a:t>
            </a:r>
            <a:r>
              <a:rPr lang="es-CO" sz="1300" dirty="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Carga a PostgreSQL con COPY</a:t>
            </a:r>
          </a:p>
        </p:txBody>
      </p:sp>
      <p:sp>
        <p:nvSpPr>
          <p:cNvPr id="8" name="Capa 8"/>
          <p:cNvSpPr txBox="1"/>
          <p:nvPr/>
        </p:nvSpPr>
        <p:spPr>
          <a:xfrm>
            <a:off x="7958634" y="1720000"/>
            <a:ext cx="3420467" cy="2300000"/>
          </a:xfrm>
          <a:prstGeom prst="roundRect">
            <a:avLst>
              <a:gd name="adj" fmla="val 8000"/>
            </a:avLst>
          </a:prstGeom>
          <a:solidFill>
            <a:srgbClr val="FBFAF7"/>
          </a:solidFill>
          <a:ln w="6350">
            <a:solidFill>
              <a:srgbClr val="DCD8CC"/>
            </a:solidFill>
            <a:prstDash val="solid"/>
          </a:ln>
        </p:spPr>
        <p:txBody>
          <a:bodyPr wrap="square" lIns="203200" tIns="180000" rIns="160000" bIns="120000" rtlCol="0" anchor="t">
            <a:noAutofit/>
          </a:bodyPr>
          <a:lstStyle/>
          <a:p>
            <a:pPr marL="0" indent="0" algn="l">
              <a:lnSpc>
                <a:spcPts val="1680"/>
              </a:lnSpc>
              <a:spcAft>
                <a:spcPts val="400"/>
              </a:spcAft>
              <a:buNone/>
            </a:pPr>
            <a:r>
              <a:rPr lang="es-CO" sz="1200" b="1" dirty="0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Depurar y analizar</a:t>
            </a:r>
          </a:p>
          <a:p>
            <a:pPr marL="0" indent="0" algn="l">
              <a:lnSpc>
                <a:spcPts val="2800"/>
              </a:lnSpc>
              <a:spcAft>
                <a:spcPts val="600"/>
              </a:spcAft>
              <a:buNone/>
            </a:pPr>
            <a:r>
              <a:rPr lang="es-CO" sz="2400" b="1" dirty="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Gold</a:t>
            </a:r>
          </a:p>
          <a:p>
            <a:pPr marL="0" indent="0" algn="l">
              <a:lnSpc>
                <a:spcPts val="1700"/>
              </a:lnSpc>
              <a:spcAft>
                <a:spcPts val="400"/>
              </a:spcAft>
              <a:buNone/>
            </a:pPr>
            <a:r>
              <a:rPr lang="es-CO" sz="1300" b="1" dirty="0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 </a:t>
            </a:r>
            <a:r>
              <a:rPr lang="es-CO" sz="1300" dirty="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Dask + DuckDB: última versión, solo directa, exclusiones con motivo</a:t>
            </a:r>
          </a:p>
          <a:p>
            <a:pPr marL="0" indent="0" algn="l">
              <a:lnSpc>
                <a:spcPts val="1700"/>
              </a:lnSpc>
              <a:spcAft>
                <a:spcPts val="400"/>
              </a:spcAft>
              <a:buNone/>
            </a:pPr>
            <a:r>
              <a:rPr lang="es-CO" sz="1300" b="1" dirty="0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 </a:t>
            </a:r>
            <a:r>
              <a:rPr lang="es-CO" sz="1300" dirty="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4.353.720 contratos, también en PostgreSQL</a:t>
            </a:r>
          </a:p>
          <a:p>
            <a:pPr marL="0" indent="0" algn="l">
              <a:lnSpc>
                <a:spcPts val="1700"/>
              </a:lnSpc>
              <a:buNone/>
            </a:pPr>
            <a:r>
              <a:rPr lang="es-CO" sz="1300" b="1" dirty="0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 </a:t>
            </a:r>
            <a:r>
              <a:rPr lang="es-CO" sz="1300" dirty="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 para D1, D2 y D3</a:t>
            </a:r>
          </a:p>
        </p:txBody>
      </p:sp>
      <p:sp>
        <p:nvSpPr>
          <p:cNvPr id="9" name="Prefect 9"/>
          <p:cNvSpPr txBox="1"/>
          <p:nvPr/>
        </p:nvSpPr>
        <p:spPr>
          <a:xfrm>
            <a:off x="812800" y="4230000"/>
            <a:ext cx="10566400" cy="629841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/>
        </p:spPr>
        <p:txBody>
          <a:bodyPr wrap="square" lIns="254000" tIns="0" rIns="254000" bIns="0" rtlCol="0" anchor="ctr">
            <a:no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O" sz="1800" b="1" dirty="0">
                <a:solidFill>
                  <a:srgbClr val="F0A2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Prefect </a:t>
            </a:r>
            <a:r>
              <a:rPr lang="es-CO" sz="140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coordina las etapas: orden, estados, errores e informe por ejecución</a:t>
            </a:r>
          </a:p>
        </p:txBody>
      </p:sp>
      <p:sp>
        <p:nvSpPr>
          <p:cNvPr id="10" name="Despliegue 10"/>
          <p:cNvSpPr txBox="1"/>
          <p:nvPr/>
        </p:nvSpPr>
        <p:spPr>
          <a:xfrm>
            <a:off x="812800" y="5010000"/>
            <a:ext cx="10566400" cy="553641"/>
          </a:xfrm>
          <a:prstGeom prst="roundRect">
            <a:avLst>
              <a:gd name="adj" fmla="val 8000"/>
            </a:avLst>
          </a:prstGeom>
          <a:solidFill>
            <a:srgbClr val="E9E4D8"/>
          </a:solidFill>
          <a:ln/>
        </p:spPr>
        <p:txBody>
          <a:bodyPr wrap="square" lIns="254000" tIns="0" rIns="254000" bIns="0" rtlCol="0" anchor="ctr">
            <a:no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s-CO" sz="1400" b="1" dirty="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Despliegue:  </a:t>
            </a:r>
            <a:r>
              <a:rPr lang="es-CO" sz="1400" dirty="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PostgreSQL local (Docker)   →   AWS (RDS): carga de la información final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Depuración y calidad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Depuración: toda exclusión tiene un motivo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812800" y="1803301"/>
            <a:ext cx="3139440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>
                <a:solidFill>
                  <a:srgbClr val="1C2333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5.642.731</a:t>
            </a:r>
            <a:endParaRPr lang="en-US" sz="3600"/>
          </a:p>
        </p:txBody>
      </p:sp>
      <p:sp>
        <p:nvSpPr>
          <p:cNvPr id="5" name="Text 3"/>
          <p:cNvSpPr/>
          <p:nvPr/>
        </p:nvSpPr>
        <p:spPr>
          <a:xfrm>
            <a:off x="812800" y="2356941"/>
            <a:ext cx="3139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filas de contratos que entran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4013200" y="1803301"/>
            <a:ext cx="48768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>
                <a:solidFill>
                  <a:srgbClr val="8A9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3200"/>
          </a:p>
        </p:txBody>
      </p:sp>
      <p:sp>
        <p:nvSpPr>
          <p:cNvPr id="7" name="Text 5"/>
          <p:cNvSpPr/>
          <p:nvPr/>
        </p:nvSpPr>
        <p:spPr>
          <a:xfrm>
            <a:off x="4572000" y="1803301"/>
            <a:ext cx="3139440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>
                <a:solidFill>
                  <a:srgbClr val="A34F0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−1.289.011</a:t>
            </a:r>
            <a:endParaRPr lang="en-US" sz="3600"/>
          </a:p>
        </p:txBody>
      </p:sp>
      <p:sp>
        <p:nvSpPr>
          <p:cNvPr id="8" name="Text 6"/>
          <p:cNvSpPr/>
          <p:nvPr/>
        </p:nvSpPr>
        <p:spPr>
          <a:xfrm>
            <a:off x="4572000" y="2356941"/>
            <a:ext cx="3139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filas excluidas, con motivo registrado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7772400" y="1803301"/>
            <a:ext cx="48768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>
                <a:solidFill>
                  <a:srgbClr val="8A95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8331200" y="1803301"/>
            <a:ext cx="3139440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>
                <a:solidFill>
                  <a:srgbClr val="2D5F9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4.353.720</a:t>
            </a:r>
            <a:endParaRPr lang="en-US" sz="3600"/>
          </a:p>
        </p:txBody>
      </p:sp>
      <p:sp>
        <p:nvSpPr>
          <p:cNvPr id="11" name="Text 9"/>
          <p:cNvSpPr/>
          <p:nvPr/>
        </p:nvSpPr>
        <p:spPr>
          <a:xfrm>
            <a:off x="8331200" y="2356941"/>
            <a:ext cx="3139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contratos únicos analizados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815975" y="2827437"/>
            <a:ext cx="2520950" cy="1031180"/>
          </a:xfrm>
          <a:prstGeom prst="roundRect">
            <a:avLst>
              <a:gd name="adj" fmla="val 7082"/>
            </a:avLst>
          </a:prstGeom>
          <a:solidFill>
            <a:srgbClr val="FBFAF7"/>
          </a:solidFill>
          <a:ln w="6350">
            <a:solidFill>
              <a:srgbClr val="DCD8CC"/>
            </a:solidFill>
            <a:prstDash val="solid"/>
          </a:ln>
        </p:spPr>
        <p:txBody>
          <a:bodyPr wrap="square" lIns="184987" tIns="134187" rIns="121741" bIns="134187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Otra modalidad</a:t>
            </a:r>
            <a:r>
              <a:rPr lang="en-US" sz="14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distinta a directa: 1.288.716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3495675" y="2827437"/>
            <a:ext cx="2520950" cy="1031180"/>
          </a:xfrm>
          <a:prstGeom prst="roundRect">
            <a:avLst>
              <a:gd name="adj" fmla="val 7082"/>
            </a:avLst>
          </a:prstGeom>
          <a:solidFill>
            <a:srgbClr val="FBFAF7"/>
          </a:solidFill>
          <a:ln w="6350">
            <a:solidFill>
              <a:srgbClr val="DCD8CC"/>
            </a:solidFill>
            <a:prstDash val="solid"/>
          </a:ln>
        </p:spPr>
        <p:txBody>
          <a:bodyPr wrap="square" lIns="184987" tIns="134187" rIns="121741" bIns="134187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Duplicados exactos</a:t>
            </a:r>
            <a:r>
              <a:rPr lang="en-US" sz="14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del mismo registro: 295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6175375" y="2827437"/>
            <a:ext cx="2520950" cy="1031180"/>
          </a:xfrm>
          <a:prstGeom prst="roundRect">
            <a:avLst>
              <a:gd name="adj" fmla="val 7082"/>
            </a:avLst>
          </a:prstGeom>
          <a:solidFill>
            <a:srgbClr val="FBFAF7"/>
          </a:solidFill>
          <a:ln w="6350">
            <a:solidFill>
              <a:srgbClr val="DCD8CC"/>
            </a:solidFill>
            <a:prstDash val="solid"/>
          </a:ln>
        </p:spPr>
        <p:txBody>
          <a:bodyPr wrap="square" lIns="184987" tIns="134187" rIns="121741" bIns="134187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Firmas posteriores</a:t>
            </a:r>
            <a:r>
              <a:rPr lang="en-US" sz="14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la fecha de corte: 0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8855075" y="2827437"/>
            <a:ext cx="2520950" cy="1031180"/>
          </a:xfrm>
          <a:prstGeom prst="roundRect">
            <a:avLst>
              <a:gd name="adj" fmla="val 7082"/>
            </a:avLst>
          </a:prstGeom>
          <a:solidFill>
            <a:srgbClr val="FBFAF7"/>
          </a:solidFill>
          <a:ln w="6350">
            <a:solidFill>
              <a:srgbClr val="DCD8CC"/>
            </a:solidFill>
            <a:prstDash val="solid"/>
          </a:ln>
        </p:spPr>
        <p:txBody>
          <a:bodyPr wrap="square" lIns="184987" tIns="134187" rIns="121741" bIns="108787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Versiones anteriores</a:t>
            </a:r>
            <a:r>
              <a:rPr lang="en-US" sz="14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ambiguas: 0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812800" y="4115792"/>
            <a:ext cx="3420467" cy="812701"/>
          </a:xfrm>
          <a:prstGeom prst="roundRect">
            <a:avLst>
              <a:gd name="adj" fmla="val 9376"/>
            </a:avLst>
          </a:prstGeom>
          <a:solidFill>
            <a:srgbClr val="E9E4D8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1016000" y="4242792"/>
            <a:ext cx="31044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Contratos con valor = 0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1016000" y="4481513"/>
            <a:ext cx="3104489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>
                <a:solidFill>
                  <a:srgbClr val="1C2333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35.664</a:t>
            </a:r>
            <a:endParaRPr lang="en-US" sz="1800"/>
          </a:p>
        </p:txBody>
      </p:sp>
      <p:sp>
        <p:nvSpPr>
          <p:cNvPr id="19" name="Shape 17"/>
          <p:cNvSpPr/>
          <p:nvPr/>
        </p:nvSpPr>
        <p:spPr>
          <a:xfrm>
            <a:off x="4385667" y="4115792"/>
            <a:ext cx="3420566" cy="812701"/>
          </a:xfrm>
          <a:prstGeom prst="roundRect">
            <a:avLst>
              <a:gd name="adj" fmla="val 9376"/>
            </a:avLst>
          </a:prstGeom>
          <a:solidFill>
            <a:srgbClr val="E9E4D8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4588867" y="4242792"/>
            <a:ext cx="31045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Conversiones fallidas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4588867" y="4481513"/>
            <a:ext cx="3104591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>
                <a:solidFill>
                  <a:srgbClr val="1C2333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20 celdas</a:t>
            </a:r>
            <a:endParaRPr lang="en-US" sz="1800"/>
          </a:p>
        </p:txBody>
      </p:sp>
      <p:sp>
        <p:nvSpPr>
          <p:cNvPr id="22" name="Shape 20"/>
          <p:cNvSpPr/>
          <p:nvPr/>
        </p:nvSpPr>
        <p:spPr>
          <a:xfrm>
            <a:off x="7958634" y="4115792"/>
            <a:ext cx="3420566" cy="812701"/>
          </a:xfrm>
          <a:prstGeom prst="roundRect">
            <a:avLst>
              <a:gd name="adj" fmla="val 9376"/>
            </a:avLst>
          </a:prstGeom>
          <a:solidFill>
            <a:srgbClr val="E9E4D8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8161834" y="4242792"/>
            <a:ext cx="31045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Valores atípicos (IQR por tipo)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8161834" y="4481513"/>
            <a:ext cx="3104591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>
                <a:solidFill>
                  <a:srgbClr val="1C2333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54.837 (1,3 %)</a:t>
            </a:r>
            <a:endParaRPr lang="en-US" sz="1800"/>
          </a:p>
        </p:txBody>
      </p:sp>
      <p:sp>
        <p:nvSpPr>
          <p:cNvPr id="25" name="Text 23"/>
          <p:cNvSpPr/>
          <p:nvPr/>
        </p:nvSpPr>
        <p:spPr>
          <a:xfrm>
            <a:off x="812800" y="6238280"/>
            <a:ext cx="54156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Conciliación: filas de entrada = contratos analizados + exclusiones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111454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 b="1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· Índice de riesgo</a:t>
            </a:r>
          </a:p>
        </p:txBody>
      </p:sp>
      <p:sp>
        <p:nvSpPr>
          <p:cNvPr id="3" name="Título 3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s-CO" sz="32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Índice de riesgo: alerta con 2 de 3 señales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812800" y="6238280"/>
            <a:ext cx="850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SECOP II · Índice de riesgo en contratación directa</a:t>
            </a:r>
          </a:p>
        </p:txBody>
      </p:sp>
      <p:sp>
        <p:nvSpPr>
          <p:cNvPr id="5" name="Texto 5"/>
          <p:cNvSpPr txBox="1"/>
          <p:nvPr/>
        </p:nvSpPr>
        <p:spPr>
          <a:xfrm>
            <a:off x="111454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</a:p>
        </p:txBody>
      </p:sp>
      <p:sp>
        <p:nvSpPr>
          <p:cNvPr id="6" name="Señal 6"/>
          <p:cNvSpPr txBox="1"/>
          <p:nvPr/>
        </p:nvSpPr>
        <p:spPr>
          <a:xfrm>
            <a:off x="812800" y="1720000"/>
            <a:ext cx="3420467" cy="2600000"/>
          </a:xfrm>
          <a:prstGeom prst="roundRect">
            <a:avLst>
              <a:gd name="adj" fmla="val 8000"/>
            </a:avLst>
          </a:prstGeom>
          <a:solidFill>
            <a:srgbClr val="FBFAF7"/>
          </a:solidFill>
          <a:ln w="6350">
            <a:solidFill>
              <a:srgbClr val="DCD8CC"/>
            </a:solidFill>
            <a:prstDash val="solid"/>
          </a:ln>
        </p:spPr>
        <p:txBody>
          <a:bodyPr wrap="square" lIns="184987" tIns="160000" rIns="160000" bIns="120000" rtlCol="0" anchor="t">
            <a:noAutofit/>
          </a:bodyPr>
          <a:lstStyle/>
          <a:p>
            <a:pPr marL="0" indent="0" algn="l">
              <a:lnSpc>
                <a:spcPts val="2800"/>
              </a:lnSpc>
              <a:spcAft>
                <a:spcPts val="300"/>
              </a:spcAft>
              <a:buNone/>
            </a:pPr>
            <a:r>
              <a:rPr lang="es-CO" sz="2400" b="1">
                <a:solidFill>
                  <a:srgbClr val="A34F0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D1</a:t>
            </a:r>
          </a:p>
          <a:p>
            <a:pPr marL="0" indent="0" algn="l">
              <a:lnSpc>
                <a:spcPts val="1920"/>
              </a:lnSpc>
              <a:spcAft>
                <a:spcPts val="400"/>
              </a:spcAft>
              <a:buNone/>
            </a:pPr>
            <a:r>
              <a:rPr lang="es-CO" sz="16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Concentración</a:t>
            </a:r>
          </a:p>
          <a:p>
            <a:pPr marL="0" indent="0" algn="l">
              <a:lnSpc>
                <a:spcPts val="1890"/>
              </a:lnSpc>
              <a:spcAft>
                <a:spcPts val="500"/>
              </a:spcAft>
              <a:buNone/>
            </a:pPr>
            <a:r>
              <a:rPr lang="es-CO" sz="14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Peso de un proveedor en lo que contrata la entidad en 365 días.</a:t>
            </a:r>
          </a:p>
          <a:p>
            <a:pPr marL="0" indent="0" algn="l">
              <a:lnSpc>
                <a:spcPts val="1600"/>
              </a:lnSpc>
              <a:spcAft>
                <a:spcPts val="500"/>
              </a:spcAft>
              <a:buNone/>
            </a:pPr>
            <a:r>
              <a:rPr lang="es-CO" sz="12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Umbral: </a:t>
            </a:r>
            <a:r>
              <a:rPr lang="es-CO" sz="12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más del 40 % (mín. 10 contratos y 3 proveedores)</a:t>
            </a:r>
          </a:p>
          <a:p>
            <a:pPr marL="0" indent="0" algn="l">
              <a:lnSpc>
                <a:spcPts val="1890"/>
              </a:lnSpc>
              <a:buNone/>
            </a:pPr>
            <a:r>
              <a:rPr lang="es-CO" sz="1400" b="1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3.785 contratos con la señal</a:t>
            </a:r>
          </a:p>
        </p:txBody>
      </p:sp>
      <p:sp>
        <p:nvSpPr>
          <p:cNvPr id="7" name="Señal 7"/>
          <p:cNvSpPr txBox="1"/>
          <p:nvPr/>
        </p:nvSpPr>
        <p:spPr>
          <a:xfrm>
            <a:off x="4385667" y="1720000"/>
            <a:ext cx="3420467" cy="2600000"/>
          </a:xfrm>
          <a:prstGeom prst="roundRect">
            <a:avLst>
              <a:gd name="adj" fmla="val 8000"/>
            </a:avLst>
          </a:prstGeom>
          <a:solidFill>
            <a:srgbClr val="FBFAF7"/>
          </a:solidFill>
          <a:ln w="6350">
            <a:solidFill>
              <a:srgbClr val="DCD8CC"/>
            </a:solidFill>
            <a:prstDash val="solid"/>
          </a:ln>
        </p:spPr>
        <p:txBody>
          <a:bodyPr wrap="square" lIns="184987" tIns="160000" rIns="160000" bIns="120000" rtlCol="0" anchor="t">
            <a:noAutofit/>
          </a:bodyPr>
          <a:lstStyle/>
          <a:p>
            <a:pPr marL="0" indent="0" algn="l">
              <a:lnSpc>
                <a:spcPts val="2800"/>
              </a:lnSpc>
              <a:spcAft>
                <a:spcPts val="300"/>
              </a:spcAft>
              <a:buNone/>
            </a:pPr>
            <a:r>
              <a:rPr lang="es-CO" sz="2400" b="1">
                <a:solidFill>
                  <a:srgbClr val="A34F0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D2</a:t>
            </a:r>
          </a:p>
          <a:p>
            <a:pPr marL="0" indent="0" algn="l">
              <a:lnSpc>
                <a:spcPts val="1920"/>
              </a:lnSpc>
              <a:spcAft>
                <a:spcPts val="400"/>
              </a:spcAft>
              <a:buNone/>
            </a:pPr>
            <a:r>
              <a:rPr lang="es-CO" sz="16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Valor atípico</a:t>
            </a:r>
          </a:p>
          <a:p>
            <a:pPr marL="0" indent="0" algn="l">
              <a:lnSpc>
                <a:spcPts val="1890"/>
              </a:lnSpc>
              <a:spcAft>
                <a:spcPts val="500"/>
              </a:spcAft>
              <a:buNone/>
            </a:pPr>
            <a:r>
              <a:rPr lang="es-CO" sz="14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Valor muy por encima de contratos comparables de los 24 meses previos.</a:t>
            </a:r>
          </a:p>
          <a:p>
            <a:pPr marL="0" indent="0" algn="l">
              <a:lnSpc>
                <a:spcPts val="1600"/>
              </a:lnSpc>
              <a:spcAft>
                <a:spcPts val="500"/>
              </a:spcAft>
              <a:buNone/>
            </a:pPr>
            <a:r>
              <a:rPr lang="es-CO" sz="12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Umbral: </a:t>
            </a:r>
            <a:r>
              <a:rPr lang="es-CO" sz="12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 robusto &gt; 3,5 con al menos 30 comparables</a:t>
            </a:r>
          </a:p>
          <a:p>
            <a:pPr marL="0" indent="0" algn="l">
              <a:lnSpc>
                <a:spcPts val="1890"/>
              </a:lnSpc>
              <a:buNone/>
            </a:pPr>
            <a:r>
              <a:rPr lang="es-CO" sz="1400" b="1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14.629 contratos con la señal</a:t>
            </a:r>
          </a:p>
        </p:txBody>
      </p:sp>
      <p:sp>
        <p:nvSpPr>
          <p:cNvPr id="8" name="Señal 8"/>
          <p:cNvSpPr txBox="1"/>
          <p:nvPr/>
        </p:nvSpPr>
        <p:spPr>
          <a:xfrm>
            <a:off x="7958634" y="1720000"/>
            <a:ext cx="3420467" cy="2600000"/>
          </a:xfrm>
          <a:prstGeom prst="roundRect">
            <a:avLst>
              <a:gd name="adj" fmla="val 8000"/>
            </a:avLst>
          </a:prstGeom>
          <a:solidFill>
            <a:srgbClr val="FBFAF7"/>
          </a:solidFill>
          <a:ln w="6350">
            <a:solidFill>
              <a:srgbClr val="DCD8CC"/>
            </a:solidFill>
            <a:prstDash val="solid"/>
          </a:ln>
        </p:spPr>
        <p:txBody>
          <a:bodyPr wrap="square" lIns="184987" tIns="160000" rIns="160000" bIns="120000" rtlCol="0" anchor="t">
            <a:noAutofit/>
          </a:bodyPr>
          <a:lstStyle/>
          <a:p>
            <a:pPr marL="0" indent="0" algn="l">
              <a:lnSpc>
                <a:spcPts val="2800"/>
              </a:lnSpc>
              <a:spcAft>
                <a:spcPts val="300"/>
              </a:spcAft>
              <a:buNone/>
            </a:pPr>
            <a:r>
              <a:rPr lang="es-CO" sz="2400" b="1">
                <a:solidFill>
                  <a:srgbClr val="A34F0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D3</a:t>
            </a:r>
          </a:p>
          <a:p>
            <a:pPr marL="0" indent="0" algn="l">
              <a:lnSpc>
                <a:spcPts val="1920"/>
              </a:lnSpc>
              <a:spcAft>
                <a:spcPts val="400"/>
              </a:spcAft>
              <a:buNone/>
            </a:pPr>
            <a:r>
              <a:rPr lang="es-CO" sz="16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Acumulación de diciembre</a:t>
            </a:r>
          </a:p>
          <a:p>
            <a:pPr marL="0" indent="0" algn="l">
              <a:lnSpc>
                <a:spcPts val="1890"/>
              </a:lnSpc>
              <a:spcAft>
                <a:spcPts val="500"/>
              </a:spcAft>
              <a:buNone/>
            </a:pPr>
            <a:r>
              <a:rPr lang="es-CO" sz="14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entidad firma en diciembre una parte inusual de sus contratos.</a:t>
            </a:r>
          </a:p>
          <a:p>
            <a:pPr marL="0" indent="0" algn="l">
              <a:lnSpc>
                <a:spcPts val="1600"/>
              </a:lnSpc>
              <a:spcAft>
                <a:spcPts val="500"/>
              </a:spcAft>
              <a:buNone/>
            </a:pPr>
            <a:r>
              <a:rPr lang="es-CO" sz="12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Umbral: </a:t>
            </a:r>
            <a:r>
              <a:rPr lang="es-CO" sz="12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diciembre &gt; máx(30 %, Q3 + 1,5 × IQR) de sus años anteriores</a:t>
            </a:r>
          </a:p>
          <a:p>
            <a:pPr marL="0" indent="0" algn="l">
              <a:lnSpc>
                <a:spcPts val="1890"/>
              </a:lnSpc>
              <a:buNone/>
            </a:pPr>
            <a:r>
              <a:rPr lang="es-CO" sz="1400" b="1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1.454 contratos de solo 9 entidades-año</a:t>
            </a:r>
          </a:p>
        </p:txBody>
      </p:sp>
      <p:sp>
        <p:nvSpPr>
          <p:cNvPr id="9" name="Texto 9"/>
          <p:cNvSpPr txBox="1"/>
          <p:nvPr/>
        </p:nvSpPr>
        <p:spPr>
          <a:xfrm>
            <a:off x="812800" y="4440000"/>
            <a:ext cx="105664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s-CO" sz="1400" b="1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Regla: </a:t>
            </a:r>
            <a:r>
              <a:rPr lang="es-CO" sz="14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ALERTA si el contrato tiene al menos 2 de las 3 señales. Si faltan datos para decidir, queda NO EVALUABLE.</a:t>
            </a:r>
          </a:p>
        </p:txBody>
      </p:sp>
      <p:sp>
        <p:nvSpPr>
          <p:cNvPr id="10" name="Resultado 10"/>
          <p:cNvSpPr txBox="1"/>
          <p:nvPr/>
        </p:nvSpPr>
        <p:spPr>
          <a:xfrm>
            <a:off x="812800" y="4870000"/>
            <a:ext cx="3420467" cy="860000"/>
          </a:xfrm>
          <a:prstGeom prst="roundRect">
            <a:avLst>
              <a:gd name="adj" fmla="val 8000"/>
            </a:avLst>
          </a:prstGeom>
          <a:solidFill>
            <a:srgbClr val="DFE7F1"/>
          </a:solidFill>
          <a:ln/>
        </p:spPr>
        <p:txBody>
          <a:bodyPr wrap="square" lIns="0" tIns="0" rIns="0" bIns="0" rtlCol="0" anchor="t">
            <a:noAutofit/>
          </a:bodyPr>
          <a:lstStyle/>
          <a:p>
            <a:endParaRPr lang="es-CO"/>
          </a:p>
        </p:txBody>
      </p:sp>
      <p:sp>
        <p:nvSpPr>
          <p:cNvPr id="11" name="Texto 11"/>
          <p:cNvSpPr txBox="1"/>
          <p:nvPr/>
        </p:nvSpPr>
        <p:spPr>
          <a:xfrm>
            <a:off x="1041400" y="4870000"/>
            <a:ext cx="500000" cy="8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s-CO" sz="3200" b="1">
                <a:solidFill>
                  <a:srgbClr val="1C2333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</a:t>
            </a:r>
          </a:p>
        </p:txBody>
      </p:sp>
      <p:sp>
        <p:nvSpPr>
          <p:cNvPr id="12" name="Texto 12"/>
          <p:cNvSpPr txBox="1"/>
          <p:nvPr/>
        </p:nvSpPr>
        <p:spPr>
          <a:xfrm>
            <a:off x="1612800" y="4870000"/>
            <a:ext cx="2470467" cy="8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s-CO" sz="14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alerta</a:t>
            </a:r>
          </a:p>
          <a:p>
            <a:pPr marL="0" indent="0" algn="l">
              <a:lnSpc>
                <a:spcPts val="1600"/>
              </a:lnSpc>
              <a:spcAft>
                <a:spcPts val="200"/>
              </a:spcAft>
              <a:buNone/>
            </a:pPr>
            <a:r>
              <a:rPr lang="es-CO" sz="12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Seguimiento ordinario</a:t>
            </a:r>
          </a:p>
          <a:p>
            <a:pPr marL="0" indent="0" algn="l">
              <a:lnSpc>
                <a:spcPts val="1700"/>
              </a:lnSpc>
              <a:buNone/>
            </a:pPr>
            <a:r>
              <a:rPr lang="es-CO" sz="1400" b="1">
                <a:solidFill>
                  <a:srgbClr val="1C2333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4.160.956 (95,6 %)</a:t>
            </a:r>
          </a:p>
        </p:txBody>
      </p:sp>
      <p:sp>
        <p:nvSpPr>
          <p:cNvPr id="13" name="Resultado 13"/>
          <p:cNvSpPr txBox="1"/>
          <p:nvPr/>
        </p:nvSpPr>
        <p:spPr>
          <a:xfrm>
            <a:off x="4385667" y="4870000"/>
            <a:ext cx="3420467" cy="860000"/>
          </a:xfrm>
          <a:prstGeom prst="roundRect">
            <a:avLst>
              <a:gd name="adj" fmla="val 8000"/>
            </a:avLst>
          </a:prstGeom>
          <a:solidFill>
            <a:srgbClr val="D9731A"/>
          </a:solidFill>
          <a:ln/>
        </p:spPr>
        <p:txBody>
          <a:bodyPr wrap="square" lIns="0" tIns="0" rIns="0" bIns="0" rtlCol="0" anchor="t">
            <a:noAutofit/>
          </a:bodyPr>
          <a:lstStyle/>
          <a:p>
            <a:endParaRPr lang="es-CO"/>
          </a:p>
        </p:txBody>
      </p:sp>
      <p:sp>
        <p:nvSpPr>
          <p:cNvPr id="14" name="Texto 14"/>
          <p:cNvSpPr txBox="1"/>
          <p:nvPr/>
        </p:nvSpPr>
        <p:spPr>
          <a:xfrm>
            <a:off x="4614267" y="4870000"/>
            <a:ext cx="500000" cy="8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s-CO" sz="3200" b="1">
                <a:solidFill>
                  <a:srgbClr val="16213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</a:t>
            </a:r>
          </a:p>
        </p:txBody>
      </p:sp>
      <p:sp>
        <p:nvSpPr>
          <p:cNvPr id="15" name="Texto 15"/>
          <p:cNvSpPr txBox="1"/>
          <p:nvPr/>
        </p:nvSpPr>
        <p:spPr>
          <a:xfrm>
            <a:off x="5185667" y="4870000"/>
            <a:ext cx="2470467" cy="8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s-CO" sz="1400" b="1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alerta</a:t>
            </a:r>
          </a:p>
          <a:p>
            <a:pPr marL="0" indent="0" algn="l">
              <a:lnSpc>
                <a:spcPts val="1600"/>
              </a:lnSpc>
              <a:spcAft>
                <a:spcPts val="200"/>
              </a:spcAft>
              <a:buNone/>
            </a:pPr>
            <a:r>
              <a:rPr lang="es-CO" sz="1200">
                <a:solidFill>
                  <a:srgbClr val="162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Debe revisarse</a:t>
            </a:r>
          </a:p>
          <a:p>
            <a:pPr marL="0" indent="0" algn="l">
              <a:lnSpc>
                <a:spcPts val="1700"/>
              </a:lnSpc>
              <a:buNone/>
            </a:pPr>
            <a:r>
              <a:rPr lang="es-CO" sz="1400" b="1">
                <a:solidFill>
                  <a:srgbClr val="16213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568 (0,01 %)</a:t>
            </a:r>
          </a:p>
        </p:txBody>
      </p:sp>
      <p:sp>
        <p:nvSpPr>
          <p:cNvPr id="16" name="Resultado 16"/>
          <p:cNvSpPr txBox="1"/>
          <p:nvPr/>
        </p:nvSpPr>
        <p:spPr>
          <a:xfrm>
            <a:off x="7958634" y="4870000"/>
            <a:ext cx="3420467" cy="860000"/>
          </a:xfrm>
          <a:prstGeom prst="roundRect">
            <a:avLst>
              <a:gd name="adj" fmla="val 8000"/>
            </a:avLst>
          </a:prstGeom>
          <a:solidFill>
            <a:srgbClr val="E9E4D8"/>
          </a:solidFill>
          <a:ln/>
        </p:spPr>
        <p:txBody>
          <a:bodyPr wrap="square" lIns="0" tIns="0" rIns="0" bIns="0" rtlCol="0" anchor="t">
            <a:noAutofit/>
          </a:bodyPr>
          <a:lstStyle/>
          <a:p>
            <a:endParaRPr lang="es-CO"/>
          </a:p>
        </p:txBody>
      </p:sp>
      <p:sp>
        <p:nvSpPr>
          <p:cNvPr id="17" name="Texto 17"/>
          <p:cNvSpPr txBox="1"/>
          <p:nvPr/>
        </p:nvSpPr>
        <p:spPr>
          <a:xfrm>
            <a:off x="8187234" y="4870000"/>
            <a:ext cx="500000" cy="8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s-CO" sz="3200" b="1">
                <a:solidFill>
                  <a:srgbClr val="1C2333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–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8758634" y="4870000"/>
            <a:ext cx="2470467" cy="8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s-CO" sz="14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evaluable</a:t>
            </a:r>
          </a:p>
          <a:p>
            <a:pPr marL="0" indent="0" algn="l">
              <a:lnSpc>
                <a:spcPts val="1600"/>
              </a:lnSpc>
              <a:spcAft>
                <a:spcPts val="200"/>
              </a:spcAft>
              <a:buNone/>
            </a:pPr>
            <a:r>
              <a:rPr lang="es-CO" sz="12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Datos insuficientes para decidir</a:t>
            </a:r>
          </a:p>
          <a:p>
            <a:pPr marL="0" indent="0" algn="l">
              <a:lnSpc>
                <a:spcPts val="1700"/>
              </a:lnSpc>
              <a:buNone/>
            </a:pPr>
            <a:r>
              <a:rPr lang="es-CO" sz="1400" b="1">
                <a:solidFill>
                  <a:srgbClr val="1C2333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192.196 (4,4 %)</a:t>
            </a:r>
          </a:p>
        </p:txBody>
      </p:sp>
      <p:sp>
        <p:nvSpPr>
          <p:cNvPr id="19" name="Texto 19"/>
          <p:cNvSpPr txBox="1"/>
          <p:nvPr/>
        </p:nvSpPr>
        <p:spPr>
          <a:xfrm>
            <a:off x="812800" y="5830000"/>
            <a:ext cx="105664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Contratos de contratación directa analizados: 4.353.720 · corrida actual, antes de aplicar la regla de montos inválidos.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ntos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 b="1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 · Calidad de los datos</a:t>
            </a:r>
          </a:p>
        </p:txBody>
      </p:sp>
      <p:sp>
        <p:nvSpPr>
          <p:cNvPr id="3" name="Título 3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s-CO" sz="32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Hallazgo: hay montos registrados imposibles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812800" y="6238280"/>
            <a:ext cx="850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Fuente: notebooks 10 y V2 (salidas guardadas) · lote desde_gold_v2_20261009 · corte 21 sep. 2026</a:t>
            </a:r>
          </a:p>
        </p:txBody>
      </p:sp>
      <p:sp>
        <p:nvSpPr>
          <p:cNvPr id="5" name="Texto 5"/>
          <p:cNvSpPr txBox="1"/>
          <p:nvPr/>
        </p:nvSpPr>
        <p:spPr>
          <a:xfrm>
            <a:off x="111454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812800" y="1803301"/>
            <a:ext cx="3420467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s-CO" sz="3600" b="1">
                <a:solidFill>
                  <a:srgbClr val="1C2333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6,03 × 10¹⁷</a:t>
            </a:r>
          </a:p>
        </p:txBody>
      </p:sp>
      <p:sp>
        <p:nvSpPr>
          <p:cNvPr id="7" name="Texto 7"/>
          <p:cNvSpPr txBox="1"/>
          <p:nvPr/>
        </p:nvSpPr>
        <p:spPr>
          <a:xfrm>
            <a:off x="812800" y="2356941"/>
            <a:ext cx="3420467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pesos suman los contratos con valor «válido»: cientos de veces el PIB de Colombia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4385667" y="1803301"/>
            <a:ext cx="3420467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s-CO" sz="3600" b="1">
                <a:solidFill>
                  <a:srgbClr val="A34F0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98 %</a:t>
            </a:r>
          </a:p>
        </p:txBody>
      </p:sp>
      <p:sp>
        <p:nvSpPr>
          <p:cNvPr id="9" name="Texto 9"/>
          <p:cNvSpPr txBox="1"/>
          <p:nvPr/>
        </p:nvSpPr>
        <p:spPr>
          <a:xfrm>
            <a:off x="4385667" y="2356941"/>
            <a:ext cx="3420467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ese valor está en los 568 contratos clasificados en ALERTA</a:t>
            </a:r>
          </a:p>
        </p:txBody>
      </p:sp>
      <p:sp>
        <p:nvSpPr>
          <p:cNvPr id="10" name="Texto 10"/>
          <p:cNvSpPr txBox="1"/>
          <p:nvPr/>
        </p:nvSpPr>
        <p:spPr>
          <a:xfrm>
            <a:off x="7958634" y="1803301"/>
            <a:ext cx="3420467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s-CO" sz="3600" b="1">
                <a:solidFill>
                  <a:srgbClr val="2D5F9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2019–2021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7958634" y="2356941"/>
            <a:ext cx="3420467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años que concentran el valor imposible</a:t>
            </a:r>
          </a:p>
        </p:txBody>
      </p:sp>
      <p:sp>
        <p:nvSpPr>
          <p:cNvPr id="12" name="Tarjeta 12"/>
          <p:cNvSpPr txBox="1"/>
          <p:nvPr/>
        </p:nvSpPr>
        <p:spPr>
          <a:xfrm>
            <a:off x="812800" y="3000000"/>
            <a:ext cx="3420467" cy="1380000"/>
          </a:xfrm>
          <a:prstGeom prst="roundRect">
            <a:avLst>
              <a:gd name="adj" fmla="val 8000"/>
            </a:avLst>
          </a:prstGeom>
          <a:solidFill>
            <a:srgbClr val="FBFAF7"/>
          </a:solidFill>
          <a:ln w="6350">
            <a:solidFill>
              <a:srgbClr val="DCD8CC"/>
            </a:solidFill>
            <a:prstDash val="solid"/>
          </a:ln>
        </p:spPr>
        <p:txBody>
          <a:bodyPr wrap="square" lIns="184987" tIns="160000" rIns="160000" bIns="120000" rtlCol="0" anchor="t">
            <a:noAutofit/>
          </a:bodyPr>
          <a:lstStyle/>
          <a:p>
            <a:pPr marL="0" indent="0" algn="l">
              <a:lnSpc>
                <a:spcPts val="1920"/>
              </a:lnSpc>
              <a:spcAft>
                <a:spcPts val="500"/>
              </a:spcAft>
              <a:buNone/>
            </a:pPr>
            <a:r>
              <a:rPr lang="es-CO" sz="16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 probable</a:t>
            </a:r>
          </a:p>
          <a:p>
            <a:pPr marL="0" indent="0" algn="l">
              <a:lnSpc>
                <a:spcPts val="1890"/>
              </a:lnSpc>
              <a:buNone/>
            </a:pPr>
            <a:r>
              <a:rPr lang="es-CO" sz="14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Errores de digitación en el registro, como ceros de más en el valor.</a:t>
            </a:r>
          </a:p>
        </p:txBody>
      </p:sp>
      <p:sp>
        <p:nvSpPr>
          <p:cNvPr id="13" name="Tarjeta 13"/>
          <p:cNvSpPr txBox="1"/>
          <p:nvPr/>
        </p:nvSpPr>
        <p:spPr>
          <a:xfrm>
            <a:off x="4385667" y="3000000"/>
            <a:ext cx="3420467" cy="1380000"/>
          </a:xfrm>
          <a:prstGeom prst="roundRect">
            <a:avLst>
              <a:gd name="adj" fmla="val 8000"/>
            </a:avLst>
          </a:prstGeom>
          <a:solidFill>
            <a:srgbClr val="FBFAF7"/>
          </a:solidFill>
          <a:ln w="6350">
            <a:solidFill>
              <a:srgbClr val="DCD8CC"/>
            </a:solidFill>
            <a:prstDash val="solid"/>
          </a:ln>
        </p:spPr>
        <p:txBody>
          <a:bodyPr wrap="square" lIns="184987" tIns="160000" rIns="160000" bIns="120000" rtlCol="0" anchor="t">
            <a:noAutofit/>
          </a:bodyPr>
          <a:lstStyle/>
          <a:p>
            <a:pPr marL="0" indent="0" algn="l">
              <a:lnSpc>
                <a:spcPts val="1920"/>
              </a:lnSpc>
              <a:spcAft>
                <a:spcPts val="500"/>
              </a:spcAft>
              <a:buNone/>
            </a:pPr>
            <a:r>
              <a:rPr lang="es-CO" sz="16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Falsas alertas</a:t>
            </a:r>
          </a:p>
          <a:p>
            <a:pPr marL="0" indent="0" algn="l">
              <a:lnSpc>
                <a:spcPts val="1890"/>
              </a:lnSpc>
              <a:buNone/>
            </a:pPr>
            <a:r>
              <a:rPr lang="es-CO" sz="14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 de las alertas por valor atípico (D2) serían errores de registro, no riesgo.</a:t>
            </a:r>
          </a:p>
        </p:txBody>
      </p:sp>
      <p:sp>
        <p:nvSpPr>
          <p:cNvPr id="14" name="Tarjeta 14"/>
          <p:cNvSpPr txBox="1"/>
          <p:nvPr/>
        </p:nvSpPr>
        <p:spPr>
          <a:xfrm>
            <a:off x="7958634" y="3000000"/>
            <a:ext cx="3420467" cy="1380000"/>
          </a:xfrm>
          <a:prstGeom prst="roundRect">
            <a:avLst>
              <a:gd name="adj" fmla="val 8000"/>
            </a:avLst>
          </a:prstGeom>
          <a:solidFill>
            <a:srgbClr val="FBFAF7"/>
          </a:solidFill>
          <a:ln w="6350">
            <a:solidFill>
              <a:srgbClr val="DCD8CC"/>
            </a:solidFill>
            <a:prstDash val="solid"/>
          </a:ln>
        </p:spPr>
        <p:txBody>
          <a:bodyPr wrap="square" lIns="184987" tIns="160000" rIns="160000" bIns="120000" rtlCol="0" anchor="t">
            <a:noAutofit/>
          </a:bodyPr>
          <a:lstStyle/>
          <a:p>
            <a:pPr marL="0" indent="0" algn="l">
              <a:lnSpc>
                <a:spcPts val="1920"/>
              </a:lnSpc>
              <a:spcAft>
                <a:spcPts val="500"/>
              </a:spcAft>
              <a:buNone/>
            </a:pPr>
            <a:r>
              <a:rPr lang="es-CO" sz="16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Concentración distorsionada</a:t>
            </a:r>
          </a:p>
          <a:p>
            <a:pPr marL="0" indent="0" algn="l">
              <a:lnSpc>
                <a:spcPts val="1890"/>
              </a:lnSpc>
              <a:buNone/>
            </a:pPr>
            <a:r>
              <a:rPr lang="es-CO" sz="14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monto gigante infla el peso de un proveedor en D1 y altera el de los demás.</a:t>
            </a:r>
          </a:p>
        </p:txBody>
      </p:sp>
      <p:sp>
        <p:nvSpPr>
          <p:cNvPr id="15" name="Mensaje 15"/>
          <p:cNvSpPr txBox="1"/>
          <p:nvPr/>
        </p:nvSpPr>
        <p:spPr>
          <a:xfrm>
            <a:off x="812800" y="4700000"/>
            <a:ext cx="10566400" cy="690860"/>
          </a:xfrm>
          <a:prstGeom prst="roundRect">
            <a:avLst>
              <a:gd name="adj" fmla="val 8000"/>
            </a:avLst>
          </a:prstGeom>
          <a:solidFill>
            <a:srgbClr val="16213A"/>
          </a:solidFill>
          <a:ln/>
        </p:spPr>
        <p:txBody>
          <a:bodyPr wrap="square" lIns="231682" tIns="0" rIns="231682" bIns="0" rtlCol="0" anchor="ctr">
            <a:no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s-CO" sz="1600" b="1">
                <a:solidFill>
                  <a:srgbClr val="F0A2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Hallazgo de calidad: </a:t>
            </a:r>
            <a:r>
              <a:rPr lang="es-CO" sz="160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eso reportamos resultados en número de contratos, no en pesos.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ntos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 b="1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 · Calidad de los datos</a:t>
            </a:r>
          </a:p>
        </p:txBody>
      </p:sp>
      <p:sp>
        <p:nvSpPr>
          <p:cNvPr id="3" name="Título 3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s-CO" sz="32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Solución: marcar, no corregir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812800" y="6238280"/>
            <a:ext cx="850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SECOP II · Índice de riesgo en contratación directa</a:t>
            </a:r>
          </a:p>
        </p:txBody>
      </p:sp>
      <p:sp>
        <p:nvSpPr>
          <p:cNvPr id="5" name="Texto 5"/>
          <p:cNvSpPr txBox="1"/>
          <p:nvPr/>
        </p:nvSpPr>
        <p:spPr>
          <a:xfrm>
            <a:off x="111454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812800" y="1803301"/>
            <a:ext cx="105664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s-CO" sz="16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adivinamos el valor real. Un monto se marca como </a:t>
            </a:r>
            <a:r>
              <a:rPr lang="es-CO" sz="16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inválido</a:t>
            </a:r>
            <a:r>
              <a:rPr lang="es-CO" sz="16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si cumple cualquiera de estas reglas:</a:t>
            </a:r>
          </a:p>
        </p:txBody>
      </p:sp>
      <p:sp>
        <p:nvSpPr>
          <p:cNvPr id="7" name="Tarjeta 7"/>
          <p:cNvSpPr txBox="1"/>
          <p:nvPr/>
        </p:nvSpPr>
        <p:spPr>
          <a:xfrm>
            <a:off x="812800" y="2300000"/>
            <a:ext cx="3420467" cy="1500000"/>
          </a:xfrm>
          <a:prstGeom prst="roundRect">
            <a:avLst>
              <a:gd name="adj" fmla="val 8000"/>
            </a:avLst>
          </a:prstGeom>
          <a:solidFill>
            <a:srgbClr val="FBFAF7"/>
          </a:solidFill>
          <a:ln w="6350">
            <a:solidFill>
              <a:srgbClr val="DCD8CC"/>
            </a:solidFill>
            <a:prstDash val="solid"/>
          </a:ln>
        </p:spPr>
        <p:txBody>
          <a:bodyPr wrap="square" lIns="184987" tIns="160000" rIns="160000" bIns="120000" rtlCol="0" anchor="t">
            <a:noAutofit/>
          </a:bodyPr>
          <a:lstStyle/>
          <a:p>
            <a:pPr marL="0" indent="0" algn="l">
              <a:lnSpc>
                <a:spcPts val="2800"/>
              </a:lnSpc>
              <a:spcAft>
                <a:spcPts val="400"/>
              </a:spcAft>
              <a:buNone/>
            </a:pPr>
            <a:r>
              <a:rPr lang="es-CO" sz="2400" b="1">
                <a:solidFill>
                  <a:srgbClr val="A34F0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</a:t>
            </a:r>
          </a:p>
          <a:p>
            <a:pPr marL="0" indent="0" algn="l">
              <a:lnSpc>
                <a:spcPts val="1920"/>
              </a:lnSpc>
              <a:spcAft>
                <a:spcPts val="500"/>
              </a:spcAft>
              <a:buNone/>
            </a:pPr>
            <a:r>
              <a:rPr lang="es-CO" sz="16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Tope absoluto</a:t>
            </a:r>
          </a:p>
          <a:p>
            <a:pPr marL="0" indent="0" algn="l">
              <a:lnSpc>
                <a:spcPts val="1890"/>
              </a:lnSpc>
              <a:buNone/>
            </a:pPr>
            <a:r>
              <a:rPr lang="es-CO" sz="14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Supera 10 billones de pesos.</a:t>
            </a:r>
          </a:p>
        </p:txBody>
      </p:sp>
      <p:sp>
        <p:nvSpPr>
          <p:cNvPr id="8" name="Tarjeta 8"/>
          <p:cNvSpPr txBox="1"/>
          <p:nvPr/>
        </p:nvSpPr>
        <p:spPr>
          <a:xfrm>
            <a:off x="4385667" y="2300000"/>
            <a:ext cx="3420467" cy="1500000"/>
          </a:xfrm>
          <a:prstGeom prst="roundRect">
            <a:avLst>
              <a:gd name="adj" fmla="val 8000"/>
            </a:avLst>
          </a:prstGeom>
          <a:solidFill>
            <a:srgbClr val="FBFAF7"/>
          </a:solidFill>
          <a:ln w="6350">
            <a:solidFill>
              <a:srgbClr val="DCD8CC"/>
            </a:solidFill>
            <a:prstDash val="solid"/>
          </a:ln>
        </p:spPr>
        <p:txBody>
          <a:bodyPr wrap="square" lIns="184987" tIns="160000" rIns="160000" bIns="120000" rtlCol="0" anchor="t">
            <a:noAutofit/>
          </a:bodyPr>
          <a:lstStyle/>
          <a:p>
            <a:pPr marL="0" indent="0" algn="l">
              <a:lnSpc>
                <a:spcPts val="2800"/>
              </a:lnSpc>
              <a:spcAft>
                <a:spcPts val="400"/>
              </a:spcAft>
              <a:buNone/>
            </a:pPr>
            <a:r>
              <a:rPr lang="es-CO" sz="2400" b="1">
                <a:solidFill>
                  <a:srgbClr val="A34F0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2</a:t>
            </a:r>
          </a:p>
          <a:p>
            <a:pPr marL="0" indent="0" algn="l">
              <a:lnSpc>
                <a:spcPts val="1920"/>
              </a:lnSpc>
              <a:spcAft>
                <a:spcPts val="500"/>
              </a:spcAft>
              <a:buNone/>
            </a:pPr>
            <a:r>
              <a:rPr lang="es-CO" sz="16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Fuera de proporción</a:t>
            </a:r>
          </a:p>
          <a:p>
            <a:pPr marL="0" indent="0" algn="l">
              <a:lnSpc>
                <a:spcPts val="1890"/>
              </a:lnSpc>
              <a:buNone/>
            </a:pPr>
            <a:r>
              <a:rPr lang="es-CO" sz="14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 más de 1.000 veces la mediana de su tipo de contrato y año.</a:t>
            </a:r>
          </a:p>
        </p:txBody>
      </p:sp>
      <p:sp>
        <p:nvSpPr>
          <p:cNvPr id="9" name="Tarjeta 9"/>
          <p:cNvSpPr txBox="1"/>
          <p:nvPr/>
        </p:nvSpPr>
        <p:spPr>
          <a:xfrm>
            <a:off x="7958634" y="2300000"/>
            <a:ext cx="3420467" cy="1500000"/>
          </a:xfrm>
          <a:prstGeom prst="roundRect">
            <a:avLst>
              <a:gd name="adj" fmla="val 8000"/>
            </a:avLst>
          </a:prstGeom>
          <a:solidFill>
            <a:srgbClr val="FBFAF7"/>
          </a:solidFill>
          <a:ln w="6350">
            <a:solidFill>
              <a:srgbClr val="DCD8CC"/>
            </a:solidFill>
            <a:prstDash val="solid"/>
          </a:ln>
        </p:spPr>
        <p:txBody>
          <a:bodyPr wrap="square" lIns="184987" tIns="160000" rIns="160000" bIns="120000" rtlCol="0" anchor="t">
            <a:noAutofit/>
          </a:bodyPr>
          <a:lstStyle/>
          <a:p>
            <a:pPr marL="0" indent="0" algn="l">
              <a:lnSpc>
                <a:spcPts val="2800"/>
              </a:lnSpc>
              <a:spcAft>
                <a:spcPts val="400"/>
              </a:spcAft>
              <a:buNone/>
            </a:pPr>
            <a:r>
              <a:rPr lang="es-CO" sz="2400" b="1">
                <a:solidFill>
                  <a:srgbClr val="A34F0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3</a:t>
            </a:r>
          </a:p>
          <a:p>
            <a:pPr marL="0" indent="0" algn="l">
              <a:lnSpc>
                <a:spcPts val="1920"/>
              </a:lnSpc>
              <a:spcAft>
                <a:spcPts val="500"/>
              </a:spcAft>
              <a:buNone/>
            </a:pPr>
            <a:r>
              <a:rPr lang="es-CO" sz="16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positivo</a:t>
            </a:r>
          </a:p>
          <a:p>
            <a:pPr marL="0" indent="0" algn="l">
              <a:lnSpc>
                <a:spcPts val="1890"/>
              </a:lnSpc>
              <a:buNone/>
            </a:pPr>
            <a:r>
              <a:rPr lang="es-CO" sz="14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valor es cero o negativo.</a:t>
            </a:r>
          </a:p>
        </p:txBody>
      </p:sp>
      <p:sp>
        <p:nvSpPr>
          <p:cNvPr id="10" name="Flujo 10"/>
          <p:cNvSpPr txBox="1"/>
          <p:nvPr/>
        </p:nvSpPr>
        <p:spPr>
          <a:xfrm>
            <a:off x="812800" y="3990000"/>
            <a:ext cx="10566400" cy="460000"/>
          </a:xfrm>
          <a:prstGeom prst="roundRect">
            <a:avLst>
              <a:gd name="adj" fmla="val 8000"/>
            </a:avLst>
          </a:prstGeom>
          <a:solidFill>
            <a:srgbClr val="E9E4D8"/>
          </a:solidFill>
          <a:ln/>
        </p:spPr>
        <p:txBody>
          <a:bodyPr wrap="square" lIns="203200" tIns="0" rIns="203200" bIns="0" rtlCol="0" anchor="ctr">
            <a:no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s-CO" sz="14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Ese contrato:  </a:t>
            </a:r>
            <a:r>
              <a:rPr lang="es-CO" sz="14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queda «no evaluable» en D2   →   sale del cálculo de lo «normal»   →   se recalcula la clasificación</a:t>
            </a:r>
          </a:p>
        </p:txBody>
      </p:sp>
      <p:sp>
        <p:nvSpPr>
          <p:cNvPr id="11" name="Caja 11"/>
          <p:cNvSpPr txBox="1"/>
          <p:nvPr/>
        </p:nvSpPr>
        <p:spPr>
          <a:xfrm>
            <a:off x="812800" y="4640000"/>
            <a:ext cx="3420467" cy="812701"/>
          </a:xfrm>
          <a:prstGeom prst="roundRect">
            <a:avLst>
              <a:gd name="adj" fmla="val 8000"/>
            </a:avLst>
          </a:prstGeom>
          <a:solidFill>
            <a:srgbClr val="E9E4D8"/>
          </a:solidFill>
          <a:ln/>
        </p:spPr>
        <p:txBody>
          <a:bodyPr wrap="square" lIns="0" tIns="0" rIns="0" bIns="0" rtlCol="0" anchor="t">
            <a:noAutofit/>
          </a:bodyPr>
          <a:lstStyle/>
          <a:p>
            <a:endParaRPr lang="es-CO"/>
          </a:p>
        </p:txBody>
      </p:sp>
      <p:sp>
        <p:nvSpPr>
          <p:cNvPr id="12" name="Texto 12"/>
          <p:cNvSpPr txBox="1"/>
          <p:nvPr/>
        </p:nvSpPr>
        <p:spPr>
          <a:xfrm>
            <a:off x="1016000" y="4767000"/>
            <a:ext cx="30140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Contratos con valor inválido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1016000" y="5005721"/>
            <a:ext cx="3014067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O" sz="1800" b="1">
                <a:solidFill>
                  <a:srgbClr val="1C2333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36.098</a:t>
            </a:r>
          </a:p>
        </p:txBody>
      </p:sp>
      <p:sp>
        <p:nvSpPr>
          <p:cNvPr id="14" name="Caja 14"/>
          <p:cNvSpPr txBox="1"/>
          <p:nvPr/>
        </p:nvSpPr>
        <p:spPr>
          <a:xfrm>
            <a:off x="4385667" y="4640000"/>
            <a:ext cx="3420467" cy="812701"/>
          </a:xfrm>
          <a:prstGeom prst="roundRect">
            <a:avLst>
              <a:gd name="adj" fmla="val 8000"/>
            </a:avLst>
          </a:prstGeom>
          <a:solidFill>
            <a:srgbClr val="E9E4D8"/>
          </a:solidFill>
          <a:ln/>
        </p:spPr>
        <p:txBody>
          <a:bodyPr wrap="square" lIns="0" tIns="0" rIns="0" bIns="0" rtlCol="0" anchor="t">
            <a:noAutofit/>
          </a:bodyPr>
          <a:lstStyle/>
          <a:p>
            <a:endParaRPr lang="es-CO"/>
          </a:p>
        </p:txBody>
      </p:sp>
      <p:sp>
        <p:nvSpPr>
          <p:cNvPr id="15" name="Texto 15"/>
          <p:cNvSpPr txBox="1"/>
          <p:nvPr/>
        </p:nvSpPr>
        <p:spPr>
          <a:xfrm>
            <a:off x="4588867" y="4767000"/>
            <a:ext cx="30140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ellos, hoy en ALERTA (de 568)</a:t>
            </a:r>
          </a:p>
        </p:txBody>
      </p:sp>
      <p:sp>
        <p:nvSpPr>
          <p:cNvPr id="16" name="Texto 16"/>
          <p:cNvSpPr txBox="1"/>
          <p:nvPr/>
        </p:nvSpPr>
        <p:spPr>
          <a:xfrm>
            <a:off x="4588867" y="5005721"/>
            <a:ext cx="3014067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O" sz="1800" b="1">
                <a:solidFill>
                  <a:srgbClr val="1C2333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107</a:t>
            </a:r>
          </a:p>
        </p:txBody>
      </p:sp>
      <p:sp>
        <p:nvSpPr>
          <p:cNvPr id="17" name="Caja 17"/>
          <p:cNvSpPr txBox="1"/>
          <p:nvPr/>
        </p:nvSpPr>
        <p:spPr>
          <a:xfrm>
            <a:off x="7958634" y="4640000"/>
            <a:ext cx="3420467" cy="812701"/>
          </a:xfrm>
          <a:prstGeom prst="roundRect">
            <a:avLst>
              <a:gd name="adj" fmla="val 8000"/>
            </a:avLst>
          </a:prstGeom>
          <a:solidFill>
            <a:srgbClr val="E9E4D8"/>
          </a:solidFill>
          <a:ln/>
        </p:spPr>
        <p:txBody>
          <a:bodyPr wrap="square" lIns="0" tIns="0" rIns="0" bIns="0" rtlCol="0" anchor="t">
            <a:noAutofit/>
          </a:bodyPr>
          <a:lstStyle/>
          <a:p>
            <a:endParaRPr lang="es-CO"/>
          </a:p>
        </p:txBody>
      </p:sp>
      <p:sp>
        <p:nvSpPr>
          <p:cNvPr id="18" name="Texto 18"/>
          <p:cNvSpPr txBox="1"/>
          <p:nvPr/>
        </p:nvSpPr>
        <p:spPr>
          <a:xfrm>
            <a:off x="8161834" y="4767000"/>
            <a:ext cx="30140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Dónde se aplica en el pipeline</a:t>
            </a:r>
          </a:p>
        </p:txBody>
      </p:sp>
      <p:sp>
        <p:nvSpPr>
          <p:cNvPr id="19" name="Texto 19"/>
          <p:cNvSpPr txBox="1"/>
          <p:nvPr/>
        </p:nvSpPr>
        <p:spPr>
          <a:xfrm>
            <a:off x="8161834" y="5005721"/>
            <a:ext cx="3014067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s-CO" sz="1800" b="1">
                <a:solidFill>
                  <a:srgbClr val="1C2333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Antes de D2</a:t>
            </a:r>
          </a:p>
        </p:txBody>
      </p:sp>
      <p:sp>
        <p:nvSpPr>
          <p:cNvPr id="20" name="Texto 20"/>
          <p:cNvSpPr txBox="1"/>
          <p:nvPr/>
        </p:nvSpPr>
        <p:spPr>
          <a:xfrm>
            <a:off x="812800" y="5640000"/>
            <a:ext cx="105664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s-CO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36.098 = 434 montos extremos (reglas 1 y 2) + 35.664 en cero (regla 3). Se aplicará en la versión final, documentando los excluidos.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 · Prueba con Dask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Dask: misma tarea, dos configuraciones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812800" y="180330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Tarea medida: </a:t>
            </a:r>
            <a:r>
              <a:rPr lang="en-US" sz="1400" b="1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[____]</a:t>
            </a:r>
            <a:r>
              <a:rPr lang="en-US" sz="14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Variable que cambia: </a:t>
            </a:r>
            <a:r>
              <a:rPr lang="en-US" sz="1400" b="1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[____]</a:t>
            </a:r>
            <a:r>
              <a:rPr lang="en-US" sz="14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Equipo: </a:t>
            </a:r>
            <a:r>
              <a:rPr lang="en-US" sz="1400" b="1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[____]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815975" y="2309316"/>
            <a:ext cx="3155950" cy="2058293"/>
          </a:xfrm>
          <a:prstGeom prst="roundRect">
            <a:avLst>
              <a:gd name="adj" fmla="val 4782"/>
            </a:avLst>
          </a:prstGeom>
          <a:solidFill>
            <a:srgbClr val="FBFAF7"/>
          </a:solidFill>
          <a:ln w="6350">
            <a:solidFill>
              <a:srgbClr val="DCD8C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1047750" y="2541091"/>
            <a:ext cx="277317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>
                <a:solidFill>
                  <a:srgbClr val="2D5F9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Configuración 1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1047750" y="2873772"/>
            <a:ext cx="277317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Workers: </a:t>
            </a:r>
            <a:r>
              <a:rPr lang="en-US" sz="1400" b="1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[__]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1047750" y="3211513"/>
            <a:ext cx="277317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Memoria por worker: </a:t>
            </a:r>
            <a:r>
              <a:rPr lang="en-US" sz="1400" b="1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[__ GiB]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1047750" y="3549253"/>
            <a:ext cx="277317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Tiempo: </a:t>
            </a:r>
            <a:r>
              <a:rPr lang="en-US" sz="1400" b="1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[__ min]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1047750" y="3886994"/>
            <a:ext cx="277317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Memoria pico: </a:t>
            </a:r>
            <a:r>
              <a:rPr lang="en-US" sz="1400" b="1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[__ GiB]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4130675" y="2309316"/>
            <a:ext cx="3155950" cy="2058293"/>
          </a:xfrm>
          <a:prstGeom prst="roundRect">
            <a:avLst>
              <a:gd name="adj" fmla="val 4782"/>
            </a:avLst>
          </a:prstGeom>
          <a:solidFill>
            <a:srgbClr val="FBFAF7"/>
          </a:solidFill>
          <a:ln w="6350">
            <a:solidFill>
              <a:srgbClr val="DCD8C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4362450" y="2541091"/>
            <a:ext cx="277317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Configuración 2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4362450" y="2873772"/>
            <a:ext cx="277317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Workers: </a:t>
            </a:r>
            <a:r>
              <a:rPr lang="en-US" sz="1400" b="1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[__]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4362450" y="3211513"/>
            <a:ext cx="277317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Memoria por worker: </a:t>
            </a:r>
            <a:r>
              <a:rPr lang="en-US" sz="1400" b="1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[__ GiB]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4362450" y="3549253"/>
            <a:ext cx="277317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Tiempo: </a:t>
            </a:r>
            <a:r>
              <a:rPr lang="en-US" sz="1400" b="1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[__ min]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4362450" y="3886994"/>
            <a:ext cx="277317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Memoria pico: </a:t>
            </a:r>
            <a:r>
              <a:rPr lang="en-US" sz="1400" b="1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[__ GiB]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7451725" y="2315666"/>
            <a:ext cx="3917950" cy="2045593"/>
          </a:xfrm>
          <a:prstGeom prst="roundRect">
            <a:avLst>
              <a:gd name="adj" fmla="val 4501"/>
            </a:avLst>
          </a:prstGeom>
          <a:solidFill>
            <a:srgbClr val="EBE7DC"/>
          </a:solidFill>
          <a:ln w="19050">
            <a:solidFill>
              <a:srgbClr val="B3AB99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8150543" y="2962573"/>
            <a:ext cx="252031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ESPACIO PARA GRÁFICO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7612063" y="3287613"/>
            <a:ext cx="359727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Barras: tiempo y memoria pico de la configuración 1 vs la 2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812800" y="4624784"/>
            <a:ext cx="10566400" cy="553641"/>
          </a:xfrm>
          <a:prstGeom prst="roundRect">
            <a:avLst>
              <a:gd name="adj" fmla="val 9176"/>
            </a:avLst>
          </a:prstGeom>
          <a:solidFill>
            <a:srgbClr val="E9E4D8"/>
          </a:solidFill>
          <a:ln/>
        </p:spPr>
        <p:txBody>
          <a:bodyPr wrap="square" lIns="264521" tIns="137521" rIns="0" bIns="112121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Conclusión:</a:t>
            </a:r>
            <a:r>
              <a:rPr lang="en-US" sz="14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400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[redactar con los resultados de la prueba]</a:t>
            </a:r>
            <a:endParaRPr lang="en-US" sz="1400"/>
          </a:p>
        </p:txBody>
      </p:sp>
      <p:sp>
        <p:nvSpPr>
          <p:cNvPr id="21" name="Shape 19"/>
          <p:cNvSpPr/>
          <p:nvPr/>
        </p:nvSpPr>
        <p:spPr>
          <a:xfrm>
            <a:off x="812800" y="4624784"/>
            <a:ext cx="10566400" cy="553641"/>
          </a:xfrm>
          <a:custGeom>
            <a:avLst/>
            <a:gdLst/>
            <a:ahLst/>
            <a:cxnLst/>
            <a:rect l="l" t="t" r="r" b="b"/>
            <a:pathLst>
              <a:path w="10566400" h="553641">
                <a:moveTo>
                  <a:pt x="50800" y="553641"/>
                </a:moveTo>
                <a:lnTo>
                  <a:pt x="50800" y="553641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lnTo>
                  <a:pt x="50800" y="553641"/>
                </a:lnTo>
                <a:close/>
              </a:path>
            </a:pathLst>
          </a:custGeom>
          <a:solidFill>
            <a:srgbClr val="2D5F9A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41483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SECOP II · Índice de riesgo en contratación directa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111454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</a:t>
            </a:r>
            <a:endParaRPr lang="en-US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 · Métricas por etapa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etapa del ETL documentada</a:t>
            </a:r>
            <a:endParaRPr lang="en-US" sz="320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16001"/>
          <a:ext cx="6997700" cy="3892947"/>
        </p:xfrm>
        <a:graphic>
          <a:graphicData uri="http://schemas.openxmlformats.org/drawingml/2006/table">
            <a:tbl>
              <a:tblPr/>
              <a:tblGrid>
                <a:gridCol w="139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9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95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39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Etapa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0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Bytes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0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Registros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0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Tiempo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0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 b="1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Memoria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0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78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Extraer · Bronze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10,63 GB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17.046.395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A34F0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[__]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A34F0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[__]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78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Transformar · Silver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4,39 GB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17.046.395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A34F0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[__]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A34F0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[__]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78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Validar · Calidad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A34F0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[__]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A34F0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[__]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A34F0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[__]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A34F0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[__]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9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Analizar · Gold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3,09 GB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4.353.720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A34F0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[__]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A34F0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[__]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78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Exportar · PostgreSQL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A34F0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[__]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A34F0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[__]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A34F0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[__]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A34F0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[__]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39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18,11 GB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1C233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se suman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A34F0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[__]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960"/>
                        </a:lnSpc>
                        <a:buNone/>
                      </a:pPr>
                      <a:r>
                        <a:rPr lang="en-US" sz="1400">
                          <a:solidFill>
                            <a:srgbClr val="A34F0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[__]</a:t>
                      </a:r>
                      <a:endParaRPr lang="en-US" sz="14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88900" marR="88900" marT="76200" marB="76200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086725" y="1812826"/>
            <a:ext cx="3282950" cy="3886597"/>
          </a:xfrm>
          <a:prstGeom prst="roundRect">
            <a:avLst>
              <a:gd name="adj" fmla="val 2805"/>
            </a:avLst>
          </a:prstGeom>
          <a:solidFill>
            <a:srgbClr val="EBE7DC"/>
          </a:solidFill>
          <a:ln w="19050">
            <a:solidFill>
              <a:srgbClr val="B3AB99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8468043" y="3486944"/>
            <a:ext cx="252031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ESPACIO PARA GRÁFICO</a:t>
            </a:r>
            <a:endParaRPr lang="en-US" sz="1400"/>
          </a:p>
        </p:txBody>
      </p:sp>
      <p:sp>
        <p:nvSpPr>
          <p:cNvPr id="7" name="Text 4"/>
          <p:cNvSpPr/>
          <p:nvPr/>
        </p:nvSpPr>
        <p:spPr>
          <a:xfrm>
            <a:off x="8181707" y="3811984"/>
            <a:ext cx="30928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Barras horizontales: tiempo por etapa</a:t>
            </a:r>
            <a:endParaRPr lang="en-US" sz="120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50684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Fuente: informe de Prefect · ejecución </a:t>
            </a:r>
            <a:r>
              <a:rPr lang="en-US" sz="1200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[ID de la corrida oficial]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111454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</a:t>
            </a:r>
            <a:endParaRPr lang="en-US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 · Hallazgos y tablero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Tablero gerencial en Grafana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812800" y="1752501"/>
            <a:ext cx="10566400" cy="3108821"/>
          </a:xfrm>
          <a:prstGeom prst="roundRect">
            <a:avLst>
              <a:gd name="adj" fmla="val 3268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965200" y="1904901"/>
            <a:ext cx="25903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>
                <a:solidFill>
                  <a:srgbClr val="E6E9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Grafana · [Nombre del tablero]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8357513" y="1904901"/>
            <a:ext cx="28692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>
                <a:solidFill>
                  <a:srgbClr val="AAB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Filtros: entidad · año · índice (0 / 1)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968375" y="2222996"/>
            <a:ext cx="2482850" cy="793651"/>
          </a:xfrm>
          <a:prstGeom prst="roundRect">
            <a:avLst>
              <a:gd name="adj" fmla="val 6001"/>
            </a:avLst>
          </a:prstGeom>
          <a:solidFill>
            <a:srgbClr val="1F2633"/>
          </a:solidFill>
          <a:ln w="6350">
            <a:solidFill>
              <a:srgbClr val="2F374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1123950" y="2340471"/>
            <a:ext cx="22368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AAB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Contratos analizados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1123950" y="2591891"/>
            <a:ext cx="2236851" cy="33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>
                <a:solidFill>
                  <a:srgbClr val="F0A24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4.353.720</a:t>
            </a:r>
            <a:endParaRPr lang="en-US" sz="2200"/>
          </a:p>
        </p:txBody>
      </p:sp>
      <p:sp>
        <p:nvSpPr>
          <p:cNvPr id="10" name="Shape 8"/>
          <p:cNvSpPr/>
          <p:nvPr/>
        </p:nvSpPr>
        <p:spPr>
          <a:xfrm>
            <a:off x="3559175" y="2222996"/>
            <a:ext cx="2482850" cy="793651"/>
          </a:xfrm>
          <a:prstGeom prst="roundRect">
            <a:avLst>
              <a:gd name="adj" fmla="val 6001"/>
            </a:avLst>
          </a:prstGeom>
          <a:solidFill>
            <a:srgbClr val="1F2633"/>
          </a:solidFill>
          <a:ln w="6350">
            <a:solidFill>
              <a:srgbClr val="2F374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3714750" y="2340471"/>
            <a:ext cx="22368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AAB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% con índice = 1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3714750" y="2591891"/>
            <a:ext cx="2236851" cy="33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>
                <a:solidFill>
                  <a:srgbClr val="F0A24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[__]</a:t>
            </a:r>
            <a:endParaRPr lang="en-US" sz="2200"/>
          </a:p>
        </p:txBody>
      </p:sp>
      <p:sp>
        <p:nvSpPr>
          <p:cNvPr id="13" name="Shape 11"/>
          <p:cNvSpPr/>
          <p:nvPr/>
        </p:nvSpPr>
        <p:spPr>
          <a:xfrm>
            <a:off x="6149975" y="2222996"/>
            <a:ext cx="2482850" cy="793651"/>
          </a:xfrm>
          <a:prstGeom prst="roundRect">
            <a:avLst>
              <a:gd name="adj" fmla="val 6001"/>
            </a:avLst>
          </a:prstGeom>
          <a:solidFill>
            <a:srgbClr val="1F2633"/>
          </a:solidFill>
          <a:ln w="6350">
            <a:solidFill>
              <a:srgbClr val="2F374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6305550" y="2340471"/>
            <a:ext cx="22368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AAB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Contratos con índice = 1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6305550" y="2591891"/>
            <a:ext cx="2236851" cy="33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>
                <a:solidFill>
                  <a:srgbClr val="F0A24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568</a:t>
            </a:r>
            <a:endParaRPr lang="en-US" sz="2200"/>
          </a:p>
        </p:txBody>
      </p:sp>
      <p:sp>
        <p:nvSpPr>
          <p:cNvPr id="16" name="Shape 14"/>
          <p:cNvSpPr/>
          <p:nvPr/>
        </p:nvSpPr>
        <p:spPr>
          <a:xfrm>
            <a:off x="8740775" y="2222996"/>
            <a:ext cx="2482850" cy="793651"/>
          </a:xfrm>
          <a:prstGeom prst="roundRect">
            <a:avLst>
              <a:gd name="adj" fmla="val 6001"/>
            </a:avLst>
          </a:prstGeom>
          <a:solidFill>
            <a:srgbClr val="1F2633"/>
          </a:solidFill>
          <a:ln w="6350">
            <a:solidFill>
              <a:srgbClr val="2F374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8896350" y="2340471"/>
            <a:ext cx="22368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AAB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Entidades con alertas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8896350" y="2591891"/>
            <a:ext cx="2236851" cy="33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>
                <a:solidFill>
                  <a:srgbClr val="F0A24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[__]</a:t>
            </a:r>
            <a:endParaRPr lang="en-US" sz="2200"/>
          </a:p>
        </p:txBody>
      </p:sp>
      <p:sp>
        <p:nvSpPr>
          <p:cNvPr id="19" name="Shape 17"/>
          <p:cNvSpPr/>
          <p:nvPr/>
        </p:nvSpPr>
        <p:spPr>
          <a:xfrm>
            <a:off x="974725" y="3130947"/>
            <a:ext cx="3333750" cy="1568450"/>
          </a:xfrm>
          <a:prstGeom prst="roundRect">
            <a:avLst>
              <a:gd name="adj" fmla="val 2632"/>
            </a:avLst>
          </a:prstGeom>
          <a:solidFill>
            <a:srgbClr val="1F2633"/>
          </a:solidFill>
          <a:ln w="19050">
            <a:solidFill>
              <a:srgbClr val="4A5468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1561465" y="3680222"/>
            <a:ext cx="21602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AAB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ESPACIO PARA GRÁFICO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1232376" y="3944342"/>
            <a:ext cx="2818448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200">
                <a:solidFill>
                  <a:srgbClr val="D5DA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Barras: contratos con índice 0 vs 1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4429125" y="3130947"/>
            <a:ext cx="3333750" cy="1568450"/>
          </a:xfrm>
          <a:prstGeom prst="roundRect">
            <a:avLst>
              <a:gd name="adj" fmla="val 2632"/>
            </a:avLst>
          </a:prstGeom>
          <a:solidFill>
            <a:srgbClr val="1F2633"/>
          </a:solidFill>
          <a:ln w="19050">
            <a:solidFill>
              <a:srgbClr val="4A5468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5015865" y="3680222"/>
            <a:ext cx="21602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AAB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ESPACIO PARA GRÁFICO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4438650" y="3944342"/>
            <a:ext cx="3314601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200">
                <a:solidFill>
                  <a:srgbClr val="D5DA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Barras: entidades con más contratos en 1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7883525" y="3130947"/>
            <a:ext cx="3333750" cy="1568450"/>
          </a:xfrm>
          <a:prstGeom prst="roundRect">
            <a:avLst>
              <a:gd name="adj" fmla="val 2632"/>
            </a:avLst>
          </a:prstGeom>
          <a:solidFill>
            <a:srgbClr val="1F2633"/>
          </a:solidFill>
          <a:ln w="19050">
            <a:solidFill>
              <a:srgbClr val="4A5468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8470265" y="3680222"/>
            <a:ext cx="21602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AAB3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ESPACIO PARA GRÁFICO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7945795" y="3944342"/>
            <a:ext cx="3209211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200">
                <a:solidFill>
                  <a:srgbClr val="D5DA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Línea: contratos con índice = 1 por mes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815975" y="5067697"/>
            <a:ext cx="3431084" cy="760000"/>
          </a:xfrm>
          <a:prstGeom prst="roundRect">
            <a:avLst>
              <a:gd name="adj" fmla="val 12485"/>
            </a:avLst>
          </a:prstGeom>
          <a:solidFill>
            <a:srgbClr val="FBFAF7"/>
          </a:solidFill>
          <a:ln w="6350">
            <a:solidFill>
              <a:srgbClr val="DCD8CC"/>
            </a:solidFill>
            <a:prstDash val="solid"/>
          </a:ln>
        </p:spPr>
        <p:txBody>
          <a:bodyPr wrap="square" lIns="163306" tIns="112506" rIns="71232" bIns="87106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77 % de las filas de contratos son contratación directa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4380409" y="5067697"/>
            <a:ext cx="3431183" cy="760000"/>
          </a:xfrm>
          <a:prstGeom prst="roundRect">
            <a:avLst>
              <a:gd name="adj" fmla="val 12485"/>
            </a:avLst>
          </a:prstGeom>
          <a:solidFill>
            <a:srgbClr val="FBFAF7"/>
          </a:solidFill>
          <a:ln w="6350">
            <a:solidFill>
              <a:srgbClr val="DCD8CC"/>
            </a:solidFill>
            <a:prstDash val="solid"/>
          </a:ln>
        </p:spPr>
        <p:txBody>
          <a:bodyPr wrap="square" lIns="163306" tIns="112506" rIns="71229" bIns="87106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96,5 % de los contratos directos son prestación de servicios</a:t>
            </a:r>
            <a:endParaRPr lang="en-US" sz="1300"/>
          </a:p>
        </p:txBody>
      </p:sp>
      <p:sp>
        <p:nvSpPr>
          <p:cNvPr id="30" name="Text 28"/>
          <p:cNvSpPr/>
          <p:nvPr/>
        </p:nvSpPr>
        <p:spPr>
          <a:xfrm>
            <a:off x="7944941" y="5067697"/>
            <a:ext cx="3431084" cy="760000"/>
          </a:xfrm>
          <a:prstGeom prst="roundRect">
            <a:avLst>
              <a:gd name="adj" fmla="val 12485"/>
            </a:avLst>
          </a:prstGeom>
          <a:solidFill>
            <a:srgbClr val="FBFAF7"/>
          </a:solidFill>
          <a:ln w="6350">
            <a:solidFill>
              <a:srgbClr val="DCD8CC"/>
            </a:solidFill>
            <a:prstDash val="solid"/>
          </a:ln>
        </p:spPr>
        <p:txBody>
          <a:bodyPr wrap="square" lIns="163306" tIns="112506" rIns="71232" bIns="87106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54.837 valores atípicos; el mayor registra 4,4 × 10¹⁷ COP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812800" y="6238280"/>
            <a:ext cx="50138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Reemplazar el recuadro oscuro por la captura del tablero real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111454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</a:t>
            </a:r>
            <a:endParaRPr lang="en-US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>
                <a:solidFill>
                  <a:srgbClr val="A34F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 · Cierre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Limitaciones y próximos pasos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815975" y="1806476"/>
            <a:ext cx="5175250" cy="2657574"/>
          </a:xfrm>
          <a:prstGeom prst="roundRect">
            <a:avLst>
              <a:gd name="adj" fmla="val 3704"/>
            </a:avLst>
          </a:prstGeom>
          <a:solidFill>
            <a:srgbClr val="FBFAF7"/>
          </a:solidFill>
          <a:ln w="6350">
            <a:solidFill>
              <a:srgbClr val="DCD8C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1073150" y="2063651"/>
            <a:ext cx="48007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Limitaciones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1073150" y="2409031"/>
            <a:ext cx="4800727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Son señales de riesgo: no hay casos de corrupción comprobados para validar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1073150" y="3008313"/>
            <a:ext cx="4800727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Calidad variable del registro: campos vacíos e inconsistentes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1073150" y="3607594"/>
            <a:ext cx="480072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Actualización por fotografía completa, no incremental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1073150" y="3958034"/>
            <a:ext cx="480072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35.664 contratos con valor cero y 434 montos extremos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6200774" y="1806476"/>
            <a:ext cx="4800727" cy="2657574"/>
          </a:xfrm>
          <a:prstGeom prst="roundRect">
            <a:avLst>
              <a:gd name="adj" fmla="val 3704"/>
            </a:avLst>
          </a:prstGeom>
          <a:solidFill>
            <a:srgbClr val="FBFAF7"/>
          </a:solidFill>
          <a:ln w="6350">
            <a:solidFill>
              <a:srgbClr val="DCD8C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6457950" y="2063651"/>
            <a:ext cx="4800727" cy="53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err="1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Próximos pasos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6457950" y="2409031"/>
            <a:ext cx="4800727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Aplicar la regla de montos inválidos en un lote nuevo (2.1) y comparar con 2.0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6457950" y="2959031"/>
            <a:ext cx="4800727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Decidir cómo tratar los montos inválidos en D1, que también usa valores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6457950" y="3509031"/>
            <a:ext cx="4800727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1C23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Cargar la información final en AWS (RDS) para su consulta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812800" y="4721225"/>
            <a:ext cx="10566400" cy="900000"/>
          </a:xfrm>
          <a:prstGeom prst="roundRect">
            <a:avLst>
              <a:gd name="adj" fmla="val 11030"/>
            </a:avLst>
          </a:prstGeom>
          <a:solidFill>
            <a:srgbClr val="16213A"/>
          </a:solidFill>
          <a:ln/>
        </p:spPr>
        <p:txBody>
          <a:bodyPr wrap="square" lIns="231682" tIns="160000" rIns="231682" bIns="155482" rtlCol="0" anchor="t">
            <a:no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>
                <a:solidFill>
                  <a:srgbClr val="F0A2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Conclusión:</a:t>
            </a:r>
            <a:r>
              <a:rPr lang="en-US" sz="160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4,35 millones de contratos, 568 quedan priorizados para revisión; antes de usarlo, hay que depurar los montos.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41483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SECOP II · Índice de riesgo en contratación directa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11145441" y="623828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>
                <a:solidFill>
                  <a:srgbClr val="5B64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TL SECOP II – Índice de Riesgo en Contratación Directa">
  <a:themeElements>
    <a:clrScheme name="ETL SECOP II – Índice de Riesgo en Contratación Directa">
      <a:dk1>
        <a:srgbClr val="1C2333"/>
      </a:dk1>
      <a:lt1>
        <a:srgbClr val="F4F2EC"/>
      </a:lt1>
      <a:dk2>
        <a:srgbClr val="525761"/>
      </a:dk2>
      <a:lt2>
        <a:srgbClr val="DEDDDA"/>
      </a:lt2>
      <a:accent1>
        <a:srgbClr val="A34F0A"/>
      </a:accent1>
      <a:accent2>
        <a:srgbClr val="F0A24A"/>
      </a:accent2>
      <a:accent3>
        <a:srgbClr val="D9731A"/>
      </a:accent3>
      <a:accent4>
        <a:srgbClr val="2D5F9A"/>
      </a:accent4>
      <a:accent5>
        <a:srgbClr val="5B6475"/>
      </a:accent5>
      <a:accent6>
        <a:srgbClr val="3A4254"/>
      </a:accent6>
      <a:hlink>
        <a:srgbClr val="0563C1"/>
      </a:hlink>
      <a:folHlink>
        <a:srgbClr val="954F72"/>
      </a:folHlink>
    </a:clrScheme>
    <a:fontScheme name="ETL SECOP II – Índice de Riesgo en Contratación Directa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ca51631-00fe-490d-91ab-163ef87260ee}" enabled="0" method="" siteId="{aca51631-00fe-490d-91ab-163ef87260e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3072</Words>
  <Application>Microsoft Office PowerPoint</Application>
  <PresentationFormat>Widescreen</PresentationFormat>
  <Paragraphs>288</Paragraphs>
  <Slides>12</Slides>
  <Notes>12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IBM Plex Mono</vt:lpstr>
      <vt:lpstr>IBM Plex Sans</vt:lpstr>
      <vt:lpstr>ETL SECOP II – Índice de Riesgo en Contratación Directa</vt:lpstr>
      <vt:lpstr>Índice de riesgo en contratación directa</vt:lpstr>
      <vt:lpstr>¿Qué contratos de contratación directa deben revisarse?</vt:lpstr>
      <vt:lpstr>Cuatro bases abiertas del SECOP II</vt:lpstr>
      <vt:lpstr>Un flujo por capas: Bronze, Silver y Gold</vt:lpstr>
      <vt:lpstr>Depuración: toda exclusión tiene un motivo</vt:lpstr>
      <vt:lpstr>Índice de riesgo: alerta con 2 de 3 señales</vt:lpstr>
      <vt:lpstr>Hallazgo: hay montos registrados imposibles</vt:lpstr>
      <vt:lpstr>Solución: marcar, no corregir</vt:lpstr>
      <vt:lpstr>Dask: misma tarea, dos configuraciones</vt:lpstr>
      <vt:lpstr>Cada etapa del ETL documentada</vt:lpstr>
      <vt:lpstr>Tablero gerencial en Grafana</vt:lpstr>
      <vt:lpstr>Limitaciones y próximos pasos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ETL SECOP II – Índice de Riesgo en Contratación Directa</dc:title>
  <dc:subject/>
  <dc:creator/>
  <cp:lastModifiedBy>Juan Esteban Carrillo Rosenstiehl</cp:lastModifiedBy>
  <cp:revision>1</cp:revision>
  <dcterms:created xsi:type="dcterms:W3CDTF">2026-10-08T17:33:14Z</dcterms:created>
  <dcterms:modified xsi:type="dcterms:W3CDTF">2026-10-09T23:48:12Z</dcterms:modified>
</cp:coreProperties>
</file>